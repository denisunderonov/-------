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896" r:id="rId1"/>
  </p:sldMasterIdLst>
  <p:notesMasterIdLst>
    <p:notesMasterId r:id="rId17"/>
  </p:notesMasterIdLst>
  <p:sldIdLst>
    <p:sldId id="256" r:id="rId2"/>
    <p:sldId id="289" r:id="rId3"/>
    <p:sldId id="299" r:id="rId4"/>
    <p:sldId id="300" r:id="rId5"/>
    <p:sldId id="301" r:id="rId6"/>
    <p:sldId id="290" r:id="rId7"/>
    <p:sldId id="291" r:id="rId8"/>
    <p:sldId id="302" r:id="rId9"/>
    <p:sldId id="303" r:id="rId10"/>
    <p:sldId id="305" r:id="rId11"/>
    <p:sldId id="304" r:id="rId12"/>
    <p:sldId id="296" r:id="rId13"/>
    <p:sldId id="297" r:id="rId14"/>
    <p:sldId id="298" r:id="rId15"/>
    <p:sldId id="258" r:id="rId16"/>
  </p:sldIdLst>
  <p:sldSz cx="12192000" cy="6858000"/>
  <p:notesSz cx="6858000" cy="9144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Gilroy Bold" panose="020B0803050000020004" pitchFamily="34" charset="0"/>
      <p:bold r:id="rId22"/>
    </p:embeddedFont>
    <p:embeddedFont>
      <p:font typeface="Gilroy Medium" panose="020B0503050000020004" pitchFamily="34" charset="0"/>
      <p:regular r:id="rId23"/>
    </p:embeddedFont>
    <p:embeddedFont>
      <p:font typeface="Verdana" panose="020B0604030504040204" pitchFamily="34" charset="0"/>
      <p:regular r:id="rId23"/>
      <p:bold r:id="rId23"/>
      <p:italic r:id="rId23"/>
      <p:boldItalic r:id="rId23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Средний стиль 4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85BE263C-DBD7-4A20-BB59-AAB30ACAA65A}" styleName="Средний стиль 3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Средний стиль 3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9513" autoAdjust="0"/>
    <p:restoredTop sz="95652"/>
  </p:normalViewPr>
  <p:slideViewPr>
    <p:cSldViewPr snapToGrid="0">
      <p:cViewPr>
        <p:scale>
          <a:sx n="67" d="100"/>
          <a:sy n="67" d="100"/>
        </p:scale>
        <p:origin x="1032" y="111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84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2:10:59.71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24575,'78'7'0,"-11"0"0,-58-7 0,1 2 0,-1-2 0,-1 1 0,3 0 0,-1 0 0,1-1 0,3 0 0,-1 0 0,-1 0 0,-5 0 0,6 0 0,-3 0 0,8 1 0,-3 0 0,-1 1 0,-1 0 0,-2-1 0,1 0 0,1 0 0,2 0 0,-2 0 0,-3 0 0,-2-1 0,0 0 0,5 0 0,3 0 0,5 0 0,1 0 0,0 0 0,-1 0 0,-4 1 0,0 0 0,-3 0 0,0 0 0,0-1 0,-1 0 0,-2 0 0,-2 0 0,3 0 0,-1 0 0,2 0 0,-3 0 0,-2 0 0,0 0 0,2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2:11:09.74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5 24575,'38'0'0,"-6"0"0,-15 0 0,-2 0 0,0 0 0,-1-2 0,-1 1 0,-2 0 0,-1 1 0,0 0 0,0 0 0,1 0 0,-2 0 0,1 0 0,-1 0 0,1 0 0,1 0 0,1 0 0,2 0 0,0 0 0,1 0 0,1 0 0,1 1 0,1 1 0,0 0 0,-1 1 0,-2-1 0,-2 0 0,-2 0 0,0 0 0,-2 1 0,-1-1 0,4 0 0,-4-1 0,5-1 0,-4 0 0,0 0 0,0 0 0,0 0 0,1 0 0,1 0 0,3 0 0,1-1 0,3 0 0,1-2 0,1 1 0,2 1 0,-2-1 0,-1 1 0,1 0 0,0 0 0,2 1 0,-2 0 0,0 0 0,-3 0 0,-1 0 0,0 0 0,2 0 0,-1 0 0,-1-1 0,-1 0 0,0 0 0,1 0 0,0 1 0,0 0 0,1 0 0,0 0 0,0 0 0,1 0 0,0 0 0,1 1 0,-2 0 0,-2 1 0,-2-1 0,-1 0 0,0 0 0,2 1 0,0-1 0,0 1 0,0 0 0,-2-1 0,-1 0 0,-1-1 0,-1 1 0,1 0 0,0 0 0,-2-1 0,6 0 0,-6 0 0,6 0 0,-4 0 0,2 1 0,0-1 0,1 1 0,2 0 0,1 0 0,3-1 0,2 0 0,1 0 0,0 1 0,1 0 0,-2 1 0,2-1 0,-3-1 0,0 1 0,0 0 0,0 0 0,0 0 0,1-1 0,1 0 0,-1 0 0,2 1 0,0 1 0,1 1 0,0 1 0,1-2 0,1 1 0,2-1 0,-1 2 0,-1-1 0,-2 0 0,-2 0 0,-2-1 0,-2 1 0,-3-1 0,-3 1 0,-1-1 0,0-1 0,0 2 0,1 0 0,0 0 0,0 0 0,0-2 0,0 0 0,1-1 0,2 1 0,3 2 0,1 2 0,1 3 0,0 0 0,-2 0 0,-2-3 0,-1-1 0,1 0 0,0 1 0,1-1 0,1 3 0,0 1 0,-1-2 0,-2 0 0,0-2 0,0 0 0,-1 0 0,0 0 0,-3-2 0,-2-1 0,-36 3 0,16-4 0,-38 4 0,29-4 0,-8-1 0,4-1 0,0 1 0,-4 0 0,-1 1 0,-2 0 0,-2-1 0,0 0 0,2 0 0,4-1 0,2 2 0,3 0 0,0 0 0,1-1 0,1 0 0,0 0 0,-1 0 0,-1 0 0,0 0 0,-1 0 0,0 0 0,-1 0 0,1 1 0,-1-2 0,1 0 0,2 0 0,1-1 0,3 1 0,2 0 0,0 0 0,0 1 0,-1-1 0,1-1 0,-1 1 0,1 0 0,-1 0 0,-1-1 0,0 1 0,-1-1 0,-2 0 0,-1 2 0,-2-1 0,-2 0 0,-2-1 0,1-1 0,2 1 0,3 1 0,2-1 0,2 1 0,1 1 0,2-1 0,3 0 0,-1 1 0,2-1 0,0 1 0,-2-1 0,1 0 0,0 1 0,0-1 0,-1 1 0,-2 0 0,0-1 0,-2 1 0,-1-1 0,0-1 0,-1-1 0,-1 0 0,-1 0 0,1 0 0,1 1 0,0 1 0,2 0 0,1 0 0,1 1 0,3 0 0,3 1 0,2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2:12:55.36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238 378 24575,'79'9'0,"10"0"0,-32-4 0,1-1 0,-1 0 0,0 0 0,-3-1 0,-1 1 0,-2 1 0,0 1 0,-1-1 0,0 1 0,1 0 0,-1 0 0,49 5 0,-49-7 0,0-1 0,1 0 0,1-2 0,3 0 0,0-2 0,1 0 0,1-2 0,-1 1 0,1-1 0,-1 0 0,0 1 0,-2 1 0,0 0 0,-1 2 0,1 0 0,-4 1 0,0 1 0,45 2 0,-3 0 0,1-2 0,1 1 0,-3-1 0,-4 0 0,-10 1 0,-7-3 0,-9 1 0,-6-2 0,-1-1 0,7-3 0,7-1 0,5-2 0,1 0 0,-4 2 0,-4 1 0,-8-1 0,-3-2 0,4-2 0,3-1 0,-3-1 0,-2 2 0,-11-1 0,-10 2 0,-6 1 0,-8 0 0,-3-1 0,-5 0 0,-2 0 0,-4-1 0,-1 0 0,-3-1 0,-2 1 0,-3 1 0,-10 3 0,4 0 0,-8 5 0,3 0 0,-12 0 0,-17 2 0,-23-1 0,-25 1 0,36-1 0,-2 0 0,-6-2 0,-3 1 0,-4-2 0,-1 0 0,-3 0 0,1 0 0,0-1 0,2 0 0,3 1 0,2 0 0,4 0 0,2 1 0,2 1 0,1 0 0,4 1 0,0 1 0,-43 1 0,9 1 0,11 0 0,6 1 0,3-2 0,1-2 0,-5 1 0,-4 0 0,-6 2 0,-7 0 0,-5-1 0,41-1 0,0 0 0,-3-1 0,0 0 0,0 0 0,1 0 0,0-1 0,2 0 0,-42-2 0,9 0 0,13 0 0,16 1 0,12 1 0,12 0 0,7 0 0,6 0 0,4 1 0,5 0 0,2 5 0,3 3 0,-1 5 0,3 4 0,-2 1 0,1 0 0,1-2 0,1-3 0,0-2 0,0-2 0,0-1 0,1-1 0,1 0 0,4 1 0,2-4 0,0 0 0,2-2 0,1 4 0,5 4 0,7 7 0,10 5 0,10 3 0,6 1 0,-2-5 0,-9-5 0,-12-6 0,-10-5 0,-8-3 0,-2-2 0,6 0 0,-2 0 0,8 1 0,-3 0 0,2 2 0,0 1 0,2 0 0,1 1 0,1-1 0,2 0 0,-1 0 0,1-1 0,-2 0 0,0-1 0,2-1 0,0 0 0,2 0 0,4-1 0,3 0 0,1 0 0,1-1 0,-2 1 0,-2 0 0,-2 1 0,-3-1 0,-2-1 0,1 0 0,-1 0 0,3 0 0,0 0 0,1 0 0,1 0 0,-2 0 0,-1 0 0,1 0 0,2 1 0,2 1 0,1 0 0,0 1 0,-2-1 0,-3 0 0,-1-1 0,0 0 0,-1 0 0,-1 1 0,-1-1 0,-1 0 0,-2-1 0,-1 0 0,0 0 0,0 1 0,3 0 0,0 0 0,2 1 0,-1-2 0,3 0 0,3 0 0,3 1 0,4 0 0,1 1 0,1 0 0,-1 0 0,-2-1 0,0-1 0,2 0 0,1 0 0,1 0 0,2 0 0,0 1 0,2 0 0,-2 2 0,-2 1 0,-3-1 0,-2-1 0,1-1 0,3-1 0,1 0 0,4 0 0,-3 0 0,-3 0 0,-2 0 0,-3 1 0,1 1 0,1 2 0,0-1 0,-3 1 0,-6-1 0,-7-2 0,-5 0 0,-3-1 0,-49 10 0,-12-2 0,-2 2 0,-5 0 0,-5-2 0,-3 0 0,-12-1 0,-5-2 0,-13 0 0,-5-2-328,26-2 0,-1-1 0,-3 0 306,-5-2 1,-2-1 0,0 0 21,-2-2 0,0 0 0,1-2 0,5 0 0,1-1 0,2-1 0,8 1 0,3-1 0,2 0 0,-20-4 0,5 1 0,12 2 0,4 1 0,9 2 0,4 0 0,-37-4 0,20 3 983,13 1-918,8 2-65,0 1 0,1 1 0,-4 1 0,-4-1 0,-6 0 0,-2-1 0,-5-2 0,-7-3 0,-5-4 0,-9-1 0,-6-3 0,3-2 0,10 1 0,17 1 0,24 3 0,19 4 0,11 2 0,7-1 0,3-6 0,8-18 0,10-30 0,10-31 0,-10 41 0,0-1 0,0 2 0,-1 3 0,9-23 0,-8 29 0,-7 22 0,-4 15 0,2 28 0,0 5 0,7 36 0,8 8 0,12 20 0,-12-43 0,2-1 0,25 37 0,-2-20 0,-7-26 0,-3-29 0,0-45 0,2-43 0,-21 27 0,-2-3 0,-1 0 0,-2 1 0,5-27 0,-9 35 0,-5 30 0,-11 76 0,0-21 0,-5 39 0,6-52 0,3-14 0,-1-42 0,2 12 0,-3-23 0,3 28 0,1 8 0,18 32 0,18 2 0,11 16 0,12-8 0,-7-10 0,3 0 0,-1-2 0,-4-3 0,-7-4 0,-7-5 0,-5-3 0,-1-3 0,1 1 0,7 3 0,4 1 0,3 1 0,1 1 0,-2-1 0,1 0 0,-2-1 0,1 0 0,2 1 0,6 2 0,3 1 0,-1 0 0,1-2 0,-1-1 0,1-2 0,5 0 0,2-1 0,1-2 0,-3-1 0,0-1 0,-1 2 0,7 0 0,8 2 0,4 4 0,1-1 0,-5 1 0,-10-2 0,-7-5 0,-8-3 0,-4-2 0,0-2 0,-1 0 0,-1 0 0,-6 0 0,-8 0 0,-9 0 0,-9-1 0,-58-4 0,-1 3 0,-3 0 0,-5 1 0,4 1 0,-1 2 0,-11-1 0,-3 2 0,-8-1 0,-3 1 0,-8 1 0,-3-1 0,-3 1 0,0-1 0,3 0 0,2-1 0,5 0 0,2 0 0,11-1 0,2 1 0,8-1 0,2 1 0,5 0 0,2 0 0,-39 2 0,12-2 0,11 0 0,9 0 0,10-1 0,6 2 0,7-1 0,5 1 0,7-1 0,7 0 0,6 0 0,76 15 0,25 1 0,-3 0 0,9 1 0,-30-6 0,2-1 0,2 1-267,4 1 1,2 0 0,0 0 266,0 0 0,0-1 0,-1 0 0,-4-2 0,-2-1 0,-1 0 0,26 3 0,-4-2 0,-13-2 0,-4-2 0,-11 1 0,-4-2 0,37 4 0,-29-5 0,-15-2 0,-15-3 799,-9 0-799,-4 0 0,-3 0 0,-3-1 0,-3 0 0,-4-1 0,-5-1 0,-22-10 0,-28 2 0,-43-7 0,25 11 0,-6 3 0,-22-1 0,-6 1-230,25 2 0,-3 0 0,-1 1 230,-7 0 0,-1 0 0,0 1 0,-1 0 0,-1 1 0,1-1 0,7 1 0,1 0 0,1 0 0,-26 0 0,4 1 0,16 0 0,6 0 0,17-1 0,6 0 0,-17 1 0,28-1 0,24 0 0,12 1 690,37 8-690,21 3 0,-5-2 0,7 1 0,9 1 0,4 0 0,12 3 0,4 1 0,8 3 0,2 0 0,-3 0 0,-1-1 0,-9-2 0,-4 0 0,-14-3 0,-5-2 0,24 3 0,-27-5 0,-22-4 0,-15-5 0,-9-1 0,-67 3 0,-19 6 0,-1 0 0,-7 1 0,1 3 0,0 1 0,-4 1 0,0 1 0,7 0 0,4-2 0,11-2 0,5-1 0,-29 5 0,31-8 0,29-5 0,19-1 0,46 4 0,33-1 0,-6-3 0,9-1 0,15-3 0,5-2 0,-24 1 0,1-1 0,1 0 0,31-2 0,-3 0 0,-11 1 0,-5 0 0,-21 1 0,-7 1 0,16-2 0,-33 2 0,-23 1 0,-10 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2:13:03.05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B9DC91-30C7-46AB-ADDB-A80A0533D77A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B6BEC5-E5BF-4073-B59F-AF429BC831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3945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8584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8D11-0428-F0A3-3937-F8F9DD56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44A9207-06B0-CDB0-E69C-3717C7AB9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E4E9058-5863-792B-CE74-84B842057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EABFD4-2F67-45C8-D2BC-C148BBBA0B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38042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8D11-0428-F0A3-3937-F8F9DD56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44A9207-06B0-CDB0-E69C-3717C7AB9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E4E9058-5863-792B-CE74-84B842057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EABFD4-2F67-45C8-D2BC-C148BBBA0B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23376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8D11-0428-F0A3-3937-F8F9DD56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44A9207-06B0-CDB0-E69C-3717C7AB9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E4E9058-5863-792B-CE74-84B842057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EABFD4-2F67-45C8-D2BC-C148BBBA0B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23881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8D11-0428-F0A3-3937-F8F9DD56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44A9207-06B0-CDB0-E69C-3717C7AB9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E4E9058-5863-792B-CE74-84B842057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EABFD4-2F67-45C8-D2BC-C148BBBA0B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89227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8D11-0428-F0A3-3937-F8F9DD56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44A9207-06B0-CDB0-E69C-3717C7AB9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E4E9058-5863-792B-CE74-84B842057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EABFD4-2F67-45C8-D2BC-C148BBBA0B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47144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8D11-0428-F0A3-3937-F8F9DD56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44A9207-06B0-CDB0-E69C-3717C7AB9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E4E9058-5863-792B-CE74-84B842057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EABFD4-2F67-45C8-D2BC-C148BBBA0B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46364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8D11-0428-F0A3-3937-F8F9DD56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44A9207-06B0-CDB0-E69C-3717C7AB9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E4E9058-5863-792B-CE74-84B842057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EABFD4-2F67-45C8-D2BC-C148BBBA0B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46412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8D11-0428-F0A3-3937-F8F9DD56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44A9207-06B0-CDB0-E69C-3717C7AB9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E4E9058-5863-792B-CE74-84B842057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EABFD4-2F67-45C8-D2BC-C148BBBA0B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71159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8D11-0428-F0A3-3937-F8F9DD56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44A9207-06B0-CDB0-E69C-3717C7AB9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E4E9058-5863-792B-CE74-84B842057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EABFD4-2F67-45C8-D2BC-C148BBBA0B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04560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8D11-0428-F0A3-3937-F8F9DD56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44A9207-06B0-CDB0-E69C-3717C7AB9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E4E9058-5863-792B-CE74-84B842057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EABFD4-2F67-45C8-D2BC-C148BBBA0B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43748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8D11-0428-F0A3-3937-F8F9DD56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44A9207-06B0-CDB0-E69C-3717C7AB9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E4E9058-5863-792B-CE74-84B842057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EABFD4-2F67-45C8-D2BC-C148BBBA0B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5876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8D11-0428-F0A3-3937-F8F9DD56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44A9207-06B0-CDB0-E69C-3717C7AB9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E4E9058-5863-792B-CE74-84B842057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EABFD4-2F67-45C8-D2BC-C148BBBA0B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19958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8D11-0428-F0A3-3937-F8F9DD56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44A9207-06B0-CDB0-E69C-3717C7AB9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E4E9058-5863-792B-CE74-84B842057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EABFD4-2F67-45C8-D2BC-C148BBBA0B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51482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2913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39528" y="2001837"/>
            <a:ext cx="10087276" cy="1508125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039528" y="4129238"/>
            <a:ext cx="10087276" cy="11285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530" y="-100001"/>
            <a:ext cx="3006013" cy="212597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6097" y="5654764"/>
            <a:ext cx="2860213" cy="1632459"/>
          </a:xfrm>
          <a:prstGeom prst="rect">
            <a:avLst/>
          </a:prstGeom>
        </p:spPr>
      </p:pic>
      <p:cxnSp>
        <p:nvCxnSpPr>
          <p:cNvPr id="12" name="Прямая соединительная линия 11"/>
          <p:cNvCxnSpPr/>
          <p:nvPr/>
        </p:nvCxnSpPr>
        <p:spPr>
          <a:xfrm>
            <a:off x="4555671" y="1224644"/>
            <a:ext cx="7740000" cy="0"/>
          </a:xfrm>
          <a:prstGeom prst="line">
            <a:avLst/>
          </a:prstGeom>
          <a:ln w="5715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530" y="-100001"/>
            <a:ext cx="3006013" cy="2125974"/>
          </a:xfrm>
          <a:prstGeom prst="rect">
            <a:avLst/>
          </a:prstGeom>
        </p:spPr>
      </p:pic>
      <p:cxnSp>
        <p:nvCxnSpPr>
          <p:cNvPr id="9" name="Прямая соединительная линия 8"/>
          <p:cNvCxnSpPr/>
          <p:nvPr userDrawn="1"/>
        </p:nvCxnSpPr>
        <p:spPr>
          <a:xfrm>
            <a:off x="4555671" y="1224644"/>
            <a:ext cx="7740000" cy="0"/>
          </a:xfrm>
          <a:prstGeom prst="line">
            <a:avLst/>
          </a:prstGeom>
          <a:ln w="5715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9507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959430"/>
            <a:ext cx="10281557" cy="364943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D3C23-8038-4008-B24E-40A94D79456D}" type="datetime1">
              <a:rPr lang="ru-RU" smtClean="0"/>
              <a:t>02.05.2026</a:t>
            </a:fld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080171" y="5698671"/>
            <a:ext cx="1787979" cy="1047296"/>
          </a:xfrm>
        </p:spPr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7370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8779" y="1286227"/>
            <a:ext cx="10087276" cy="215961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58779" y="4165953"/>
            <a:ext cx="10087276" cy="144557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24272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9993084" y="5390016"/>
            <a:ext cx="1828800" cy="1331459"/>
          </a:xfrm>
        </p:spPr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252357" cy="41098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3543300" cy="41098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DD92-CC98-4900-BE8A-2068547BBC1A}" type="datetime1">
              <a:rPr lang="ru-RU" smtClean="0"/>
              <a:t>02.05.2026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0800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992085"/>
            <a:ext cx="4205741" cy="51298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702379"/>
            <a:ext cx="4205741" cy="32167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372100" y="1992085"/>
            <a:ext cx="4327071" cy="51298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5372100" y="2702379"/>
            <a:ext cx="4327071" cy="32167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38898-160C-4747-9301-0B5702FA49D8}" type="datetime1">
              <a:rPr lang="ru-RU" smtClean="0"/>
              <a:t>02.05.2026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8859383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53670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BB16F-DABE-4712-B47F-7722E1CB50FE}" type="datetime1">
              <a:rPr lang="ru-RU" smtClean="0"/>
              <a:t>02.05.2026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0327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BEA22-9938-4273-8C60-D80B349E4BA9}" type="datetime1">
              <a:rPr lang="ru-RU" smtClean="0"/>
              <a:t>02.05.2026</a:t>
            </a:fld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1701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52672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66859" y="1281339"/>
            <a:ext cx="4898069" cy="45876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D790B-F35A-4C90-BC4A-BA7F77964CA4}" type="datetime1">
              <a:rPr lang="ru-RU" smtClean="0"/>
              <a:t>02.05.2026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9784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52672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1273629"/>
            <a:ext cx="5823902" cy="41120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32831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EF080-AA0F-44FA-BA62-A56D8619F7E7}" type="datetime1">
              <a:rPr lang="ru-RU" smtClean="0"/>
              <a:t>02.05.2026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0307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 title="0"/>
          <p:cNvSpPr>
            <a:spLocks noGrp="1" noChangeAspect="1"/>
          </p:cNvSpPr>
          <p:nvPr>
            <p:ph type="sldNum" sz="quarter" idx="4"/>
          </p:nvPr>
        </p:nvSpPr>
        <p:spPr>
          <a:xfrm>
            <a:off x="10076358" y="5731329"/>
            <a:ext cx="1787978" cy="107189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lvl1pPr algn="l">
              <a:defRPr sz="9600" b="0" i="0" baseline="0">
                <a:solidFill>
                  <a:schemeClr val="bg2">
                    <a:lumMod val="90000"/>
                  </a:schemeClr>
                </a:solidFill>
                <a:latin typeface="Gilroy Medium" panose="00000600000000000000" pitchFamily="2" charset="-52"/>
              </a:defRPr>
            </a:lvl1pPr>
          </a:lstStyle>
          <a:p>
            <a:fld id="{A01BE76D-E181-4177-862E-40D97C82BFEB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959429"/>
            <a:ext cx="10281557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B8CDF-4973-4195-91CA-18BA11F1D400}" type="datetime1">
              <a:rPr lang="ru-RU" smtClean="0"/>
              <a:t>02.05.2026</a:t>
            </a:fld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5768" y="200819"/>
            <a:ext cx="1489158" cy="1053193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55171"/>
            <a:ext cx="8877300" cy="11355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>
            <a:off x="10260531" y="1094014"/>
            <a:ext cx="1980000" cy="0"/>
          </a:xfrm>
          <a:prstGeom prst="line">
            <a:avLst/>
          </a:prstGeom>
          <a:ln w="3810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 userDrawn="1"/>
        </p:nvCxnSpPr>
        <p:spPr>
          <a:xfrm>
            <a:off x="10260531" y="1094014"/>
            <a:ext cx="1980000" cy="0"/>
          </a:xfrm>
          <a:prstGeom prst="line">
            <a:avLst/>
          </a:prstGeom>
          <a:ln w="3810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3667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  <p:sldLayoutId id="2147483898" r:id="rId2"/>
    <p:sldLayoutId id="2147483899" r:id="rId3"/>
    <p:sldLayoutId id="2147483900" r:id="rId4"/>
    <p:sldLayoutId id="2147483901" r:id="rId5"/>
    <p:sldLayoutId id="2147483902" r:id="rId6"/>
    <p:sldLayoutId id="2147483903" r:id="rId7"/>
    <p:sldLayoutId id="2147483904" r:id="rId8"/>
    <p:sldLayoutId id="2147483905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Gilroy Bold" panose="00000800000000000000" pitchFamily="2" charset="-52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customXml" Target="../ink/ink1.xml"/><Relationship Id="rId7" Type="http://schemas.openxmlformats.org/officeDocument/2006/relationships/image" Target="../media/image8.png"/><Relationship Id="rId12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10.png"/><Relationship Id="rId5" Type="http://schemas.openxmlformats.org/officeDocument/2006/relationships/image" Target="../media/image7.png"/><Relationship Id="rId10" Type="http://schemas.openxmlformats.org/officeDocument/2006/relationships/customXml" Target="../ink/ink4.xml"/><Relationship Id="rId9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8D64222-1292-4A23-A829-4D7C56BB71FE}"/>
              </a:ext>
            </a:extLst>
          </p:cNvPr>
          <p:cNvSpPr txBox="1"/>
          <p:nvPr/>
        </p:nvSpPr>
        <p:spPr>
          <a:xfrm>
            <a:off x="4067954" y="723037"/>
            <a:ext cx="81240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Bold" panose="00000800000000000000" charset="-52"/>
                <a:ea typeface="+mn-ea"/>
                <a:cs typeface="+mn-cs"/>
              </a:rPr>
              <a:t>Веб - </a:t>
            </a:r>
            <a:r>
              <a:rPr kumimoji="0" lang="ru-RU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Bold" panose="00000800000000000000" charset="-52"/>
                <a:ea typeface="+mn-ea"/>
                <a:cs typeface="+mn-cs"/>
              </a:rPr>
              <a:t>райтинг</a:t>
            </a: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Bold" panose="00000800000000000000" charset="-52"/>
              <a:ea typeface="+mn-ea"/>
              <a:cs typeface="+mn-cs"/>
            </a:endParaRPr>
          </a:p>
          <a:p>
            <a:pPr algn="ctr"/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  <a:p>
            <a:pPr algn="ctr"/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  <a:ea typeface="+mj-ea"/>
                <a:cs typeface="+mj-cs"/>
              </a:rPr>
              <a:t> </a:t>
            </a:r>
            <a:r>
              <a:rPr lang="ru-RU" dirty="0">
                <a:latin typeface="Gilroy Medium" panose="00000600000000000000" charset="-52"/>
              </a:rPr>
              <a:t>по направлению 09.03.01 Информатика и вычислительная техника</a:t>
            </a:r>
          </a:p>
          <a:p>
            <a:pPr algn="ctr"/>
            <a:r>
              <a:rPr lang="ru-RU" dirty="0">
                <a:latin typeface="Gilroy Medium" panose="00000600000000000000" charset="-52"/>
              </a:rPr>
              <a:t>Образовательная программа (профиль) «Веб-технологии»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AAA36A-0422-46F0-BA3A-4B2EF754C329}"/>
              </a:ext>
            </a:extLst>
          </p:cNvPr>
          <p:cNvSpPr txBox="1"/>
          <p:nvPr/>
        </p:nvSpPr>
        <p:spPr>
          <a:xfrm>
            <a:off x="152400" y="2727527"/>
            <a:ext cx="118872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800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Проектирование бизнес-процессов и структур в </a:t>
            </a:r>
            <a:r>
              <a:rPr lang="ru-RU" sz="2800" b="1" dirty="0" err="1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вебиндустрии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ctr"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Лабораторная работа №1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ctr"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  <a:p>
            <a:pPr algn="ctr">
              <a:defRPr/>
            </a:pPr>
            <a:r>
              <a:rPr lang="ru-RU" sz="2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Кафе с системой анализа использования ингредиентов в блюдах. </a:t>
            </a:r>
          </a:p>
          <a:p>
            <a:pPr algn="ctr"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18C808-D44B-4FFB-A9B8-91FA34E1C60F}"/>
              </a:ext>
            </a:extLst>
          </p:cNvPr>
          <p:cNvSpPr txBox="1"/>
          <p:nvPr/>
        </p:nvSpPr>
        <p:spPr>
          <a:xfrm>
            <a:off x="5409612" y="5786150"/>
            <a:ext cx="6480854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dirty="0">
                <a:latin typeface="Gilroy Medium" panose="00000600000000000000" charset="-52"/>
              </a:rPr>
              <a:t>Студент:  </a:t>
            </a:r>
            <a:r>
              <a:rPr lang="ru-RU" dirty="0">
                <a:latin typeface="Gilroy Medium" panose="00000600000000000000" charset="-52"/>
              </a:rPr>
              <a:t>Андронов Денис Андреевич</a:t>
            </a:r>
            <a:r>
              <a:rPr lang="ru-RU" sz="1800" dirty="0">
                <a:latin typeface="Gilroy Medium" panose="00000600000000000000" charset="-52"/>
              </a:rPr>
              <a:t>, группа </a:t>
            </a:r>
            <a:r>
              <a:rPr lang="ru-RU" dirty="0">
                <a:latin typeface="Gilroy Medium" panose="00000600000000000000" charset="-52"/>
              </a:rPr>
              <a:t>241-3210</a:t>
            </a:r>
            <a:endParaRPr lang="ru-RU" sz="1800" dirty="0">
              <a:latin typeface="Gilroy Medium" panose="00000600000000000000" charset="-5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E4B5EE-80E5-44C9-B29C-37CD3F69DA42}"/>
              </a:ext>
            </a:extLst>
          </p:cNvPr>
          <p:cNvSpPr txBox="1"/>
          <p:nvPr/>
        </p:nvSpPr>
        <p:spPr>
          <a:xfrm>
            <a:off x="4782071" y="6353372"/>
            <a:ext cx="22503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916414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B3D9A-1FBB-5BF3-0E08-393DB23D2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B4F60F-D5CF-3756-6146-5EDD7EEB3B12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FD2CE6E-1969-9D2D-E8CE-75E93395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2594" y="6186956"/>
            <a:ext cx="1164356" cy="610899"/>
          </a:xfrm>
        </p:spPr>
        <p:txBody>
          <a:bodyPr/>
          <a:lstStyle/>
          <a:p>
            <a:pPr algn="r"/>
            <a:fld id="{A01BE76D-E181-4177-862E-40D97C82BFEB}" type="slidenum">
              <a:rPr lang="ru-RU" sz="3200" smtClean="0"/>
              <a:pPr algn="r"/>
              <a:t>2</a:t>
            </a:fld>
            <a:endParaRPr lang="ru-RU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E831B0-7156-D882-2D08-0D00A04A6D92}"/>
              </a:ext>
            </a:extLst>
          </p:cNvPr>
          <p:cNvSpPr txBox="1"/>
          <p:nvPr/>
        </p:nvSpPr>
        <p:spPr>
          <a:xfrm>
            <a:off x="130029" y="6476863"/>
            <a:ext cx="8434457" cy="281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Андронов Денис Андреевич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 </a:t>
            </a: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гр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241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-3210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35DE4B-1E3F-B82A-A938-D0EBD955D281}"/>
              </a:ext>
            </a:extLst>
          </p:cNvPr>
          <p:cNvSpPr txBox="1"/>
          <p:nvPr/>
        </p:nvSpPr>
        <p:spPr>
          <a:xfrm>
            <a:off x="130029" y="888221"/>
            <a:ext cx="8434457" cy="299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</a:rPr>
              <a:t>Опи</a:t>
            </a:r>
            <a:r>
              <a:rPr lang="ru-RU" sz="2000" b="1" dirty="0" err="1">
                <a:solidFill>
                  <a:prstClr val="black"/>
                </a:solidFill>
                <a:latin typeface="+mj-lt"/>
              </a:rPr>
              <a:t>сание</a:t>
            </a:r>
            <a:r>
              <a:rPr lang="ru-RU" sz="2000" b="1" dirty="0">
                <a:solidFill>
                  <a:prstClr val="black"/>
                </a:solidFill>
                <a:latin typeface="+mj-lt"/>
              </a:rPr>
              <a:t> видов деятельности организации</a:t>
            </a:r>
            <a:endParaRPr kumimoji="0" lang="ru-RU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26EAC0-83DB-8E4B-AE47-7B4BE513E652}"/>
              </a:ext>
            </a:extLst>
          </p:cNvPr>
          <p:cNvSpPr txBox="1"/>
          <p:nvPr/>
        </p:nvSpPr>
        <p:spPr>
          <a:xfrm>
            <a:off x="130029" y="1638516"/>
            <a:ext cx="9878017" cy="3946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37465" lvl="0" fontAlgn="base">
              <a:lnSpc>
                <a:spcPct val="107000"/>
              </a:lnSpc>
              <a:spcAft>
                <a:spcPts val="765"/>
              </a:spcAft>
              <a:buClr>
                <a:srgbClr val="000000"/>
              </a:buClr>
              <a:buSzPts val="1000"/>
            </a:pPr>
            <a:r>
              <a:rPr lang="en-US" sz="1400" b="1" u="none" strike="noStrike" dirty="0" err="1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Прием</a:t>
            </a:r>
            <a:r>
              <a:rPr lang="en-US" sz="1400" b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400" b="1" u="none" strike="noStrike" dirty="0" err="1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и</a:t>
            </a:r>
            <a:r>
              <a:rPr lang="en-US" sz="1400" b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400" b="1" u="none" strike="noStrike" dirty="0" err="1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обработка</a:t>
            </a:r>
            <a:r>
              <a:rPr lang="en-US" sz="1400" b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400" b="1" u="none" strike="noStrike" dirty="0" err="1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заказов</a:t>
            </a:r>
            <a:r>
              <a:rPr lang="en-US" sz="1400" b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</a:t>
            </a:r>
            <a:r>
              <a:rPr lang="en-US" sz="1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endParaRPr lang="ru-RU" sz="14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R="608330" lvl="1" fontAlgn="base">
              <a:lnSpc>
                <a:spcPct val="150000"/>
              </a:lnSpc>
              <a:spcAft>
                <a:spcPts val="420"/>
              </a:spcAft>
              <a:buClr>
                <a:srgbClr val="000000"/>
              </a:buClr>
              <a:buSzPts val="1000"/>
            </a:pPr>
            <a:r>
              <a:rPr lang="ru-RU" sz="1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клиенты делают заказы через официантов, мобильное приложение или терминалы самообслуживания, </a:t>
            </a:r>
            <a:r>
              <a:rPr lang="en-US" sz="10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 </a:t>
            </a:r>
            <a:r>
              <a:rPr lang="ru-RU" sz="1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фиксация выбранных блюд в цифровом формате; </a:t>
            </a:r>
          </a:p>
          <a:p>
            <a:pPr marR="37465" lvl="0" fontAlgn="base">
              <a:lnSpc>
                <a:spcPct val="107000"/>
              </a:lnSpc>
              <a:spcAft>
                <a:spcPts val="1030"/>
              </a:spcAft>
              <a:buClr>
                <a:srgbClr val="000000"/>
              </a:buClr>
              <a:buSzPts val="1000"/>
            </a:pPr>
            <a:r>
              <a:rPr lang="en-US" sz="1400" b="1" u="none" strike="noStrike" dirty="0" err="1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Приготовление</a:t>
            </a:r>
            <a:r>
              <a:rPr lang="en-US" sz="1400" b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400" b="1" u="none" strike="noStrike" dirty="0" err="1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блюд</a:t>
            </a:r>
            <a:r>
              <a:rPr lang="en-US" sz="1400" b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</a:t>
            </a:r>
            <a:r>
              <a:rPr lang="en-US" sz="1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endParaRPr lang="ru-RU" sz="14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R="608330" lvl="1" fontAlgn="base">
              <a:lnSpc>
                <a:spcPct val="175000"/>
              </a:lnSpc>
              <a:spcAft>
                <a:spcPts val="45"/>
              </a:spcAft>
              <a:buClr>
                <a:srgbClr val="000000"/>
              </a:buClr>
              <a:buSzPts val="1000"/>
            </a:pPr>
            <a:r>
              <a:rPr lang="ru-RU" sz="1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ручное приготовление блюд по стандартным рецептам, </a:t>
            </a:r>
            <a:r>
              <a:rPr lang="en-US" sz="10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 </a:t>
            </a:r>
            <a:r>
              <a:rPr lang="ru-RU" sz="1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учет ингредиентов, используемых в каждом заказе; </a:t>
            </a:r>
          </a:p>
          <a:p>
            <a:pPr marR="37465" lvl="0" fontAlgn="base">
              <a:lnSpc>
                <a:spcPct val="107000"/>
              </a:lnSpc>
              <a:spcAft>
                <a:spcPts val="740"/>
              </a:spcAft>
              <a:buClr>
                <a:srgbClr val="000000"/>
              </a:buClr>
              <a:buSzPts val="1000"/>
            </a:pPr>
            <a:r>
              <a:rPr lang="en-US" sz="1400" b="1" u="none" strike="noStrike" dirty="0" err="1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Учет</a:t>
            </a:r>
            <a:r>
              <a:rPr lang="en-US" sz="1400" b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400" b="1" u="none" strike="noStrike" dirty="0" err="1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и</a:t>
            </a:r>
            <a:r>
              <a:rPr lang="en-US" sz="1400" b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400" b="1" u="none" strike="noStrike" dirty="0" err="1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анализ</a:t>
            </a:r>
            <a:r>
              <a:rPr lang="en-US" sz="1400" b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400" b="1" u="none" strike="noStrike" dirty="0" err="1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ингредиентов</a:t>
            </a:r>
            <a:r>
              <a:rPr lang="en-US" sz="1400" b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</a:t>
            </a:r>
            <a:r>
              <a:rPr lang="en-US" sz="1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endParaRPr lang="ru-RU" sz="14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R="608330" lvl="1" fontAlgn="base">
              <a:lnSpc>
                <a:spcPct val="150000"/>
              </a:lnSpc>
              <a:spcAft>
                <a:spcPts val="115"/>
              </a:spcAft>
              <a:buClr>
                <a:srgbClr val="000000"/>
              </a:buClr>
              <a:buSzPts val="1000"/>
            </a:pPr>
            <a:r>
              <a:rPr lang="ru-RU" sz="1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автоматическое списание ингредиентов из базы данных при приготовлении блюд, </a:t>
            </a:r>
            <a:r>
              <a:rPr lang="en-US" sz="10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 </a:t>
            </a:r>
            <a:r>
              <a:rPr lang="ru-RU" sz="1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формирование отчетов о расходе продуктов; </a:t>
            </a:r>
          </a:p>
          <a:p>
            <a:pPr marR="37465" lvl="0" fontAlgn="base">
              <a:lnSpc>
                <a:spcPct val="150000"/>
              </a:lnSpc>
              <a:spcAft>
                <a:spcPts val="995"/>
              </a:spcAft>
              <a:buClr>
                <a:srgbClr val="000000"/>
              </a:buClr>
              <a:buSzPts val="1000"/>
            </a:pPr>
            <a:r>
              <a:rPr lang="ru-RU" sz="1400" b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Планирование закупок:</a:t>
            </a:r>
            <a:r>
              <a:rPr lang="en-US" sz="1400" b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R="37465" lvl="0" fontAlgn="base">
              <a:lnSpc>
                <a:spcPct val="150000"/>
              </a:lnSpc>
              <a:spcAft>
                <a:spcPts val="995"/>
              </a:spcAft>
              <a:buClr>
                <a:srgbClr val="000000"/>
              </a:buClr>
              <a:buSzPts val="1000"/>
            </a:pPr>
            <a:r>
              <a:rPr lang="en-US" sz="1400" b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  </a:t>
            </a:r>
            <a:r>
              <a:rPr lang="ru-RU" sz="1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прогнозирование потребности в ингредиентах на основе исторических данных. </a:t>
            </a:r>
          </a:p>
        </p:txBody>
      </p:sp>
    </p:spTree>
    <p:extLst>
      <p:ext uri="{BB962C8B-B14F-4D97-AF65-F5344CB8AC3E}">
        <p14:creationId xmlns:p14="http://schemas.microsoft.com/office/powerpoint/2010/main" val="3346767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B3D9A-1FBB-5BF3-0E08-393DB23D2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B4F60F-D5CF-3756-6146-5EDD7EEB3B12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FD2CE6E-1969-9D2D-E8CE-75E93395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2594" y="6186956"/>
            <a:ext cx="1164356" cy="610899"/>
          </a:xfrm>
        </p:spPr>
        <p:txBody>
          <a:bodyPr/>
          <a:lstStyle/>
          <a:p>
            <a:pPr algn="r"/>
            <a:fld id="{A01BE76D-E181-4177-862E-40D97C82BFEB}" type="slidenum">
              <a:rPr lang="ru-RU" sz="3200" smtClean="0"/>
              <a:pPr algn="r"/>
              <a:t>3</a:t>
            </a:fld>
            <a:endParaRPr lang="ru-RU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E831B0-7156-D882-2D08-0D00A04A6D92}"/>
              </a:ext>
            </a:extLst>
          </p:cNvPr>
          <p:cNvSpPr txBox="1"/>
          <p:nvPr/>
        </p:nvSpPr>
        <p:spPr>
          <a:xfrm>
            <a:off x="130029" y="6476863"/>
            <a:ext cx="8434457" cy="281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Андронов Денис Андреевич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 </a:t>
            </a: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гр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241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-3210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35DE4B-1E3F-B82A-A938-D0EBD955D281}"/>
              </a:ext>
            </a:extLst>
          </p:cNvPr>
          <p:cNvSpPr txBox="1"/>
          <p:nvPr/>
        </p:nvSpPr>
        <p:spPr>
          <a:xfrm>
            <a:off x="130029" y="888221"/>
            <a:ext cx="8434457" cy="299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</a:rPr>
              <a:t>Проблемная область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26EAC0-83DB-8E4B-AE47-7B4BE513E652}"/>
              </a:ext>
            </a:extLst>
          </p:cNvPr>
          <p:cNvSpPr txBox="1"/>
          <p:nvPr/>
        </p:nvSpPr>
        <p:spPr>
          <a:xfrm>
            <a:off x="130029" y="2088199"/>
            <a:ext cx="9878017" cy="1112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37465" lvl="0" indent="-342900" fontAlgn="base">
              <a:lnSpc>
                <a:spcPct val="112000"/>
              </a:lnSpc>
              <a:spcAft>
                <a:spcPts val="675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ru-RU" sz="1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Ручной учет ингредиентов приводит к ошибкам и перерасходу продуктов. </a:t>
            </a:r>
          </a:p>
          <a:p>
            <a:pPr marL="342900" marR="37465" lvl="0" indent="-342900" fontAlgn="base">
              <a:lnSpc>
                <a:spcPct val="112000"/>
              </a:lnSpc>
              <a:spcAft>
                <a:spcPts val="995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ru-RU" sz="1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Отсутствие системы для анализа популярности блюд и их влияния на расход ингредиентов. </a:t>
            </a:r>
          </a:p>
          <a:p>
            <a:pPr marL="342900" marR="37465" lvl="0" indent="-342900" fontAlgn="base">
              <a:lnSpc>
                <a:spcPct val="175000"/>
              </a:lnSpc>
              <a:spcAft>
                <a:spcPts val="995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ru-RU" sz="1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Сложности в планировании закупок из-за недостатка данных</a:t>
            </a:r>
          </a:p>
        </p:txBody>
      </p:sp>
    </p:spTree>
    <p:extLst>
      <p:ext uri="{BB962C8B-B14F-4D97-AF65-F5344CB8AC3E}">
        <p14:creationId xmlns:p14="http://schemas.microsoft.com/office/powerpoint/2010/main" val="550485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B3D9A-1FBB-5BF3-0E08-393DB23D2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B4F60F-D5CF-3756-6146-5EDD7EEB3B12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FD2CE6E-1969-9D2D-E8CE-75E93395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2594" y="6186956"/>
            <a:ext cx="1164356" cy="610899"/>
          </a:xfrm>
        </p:spPr>
        <p:txBody>
          <a:bodyPr/>
          <a:lstStyle/>
          <a:p>
            <a:pPr algn="r"/>
            <a:fld id="{A01BE76D-E181-4177-862E-40D97C82BFEB}" type="slidenum">
              <a:rPr lang="ru-RU" sz="3200" smtClean="0"/>
              <a:pPr algn="r"/>
              <a:t>4</a:t>
            </a:fld>
            <a:endParaRPr lang="ru-RU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E831B0-7156-D882-2D08-0D00A04A6D92}"/>
              </a:ext>
            </a:extLst>
          </p:cNvPr>
          <p:cNvSpPr txBox="1"/>
          <p:nvPr/>
        </p:nvSpPr>
        <p:spPr>
          <a:xfrm>
            <a:off x="130029" y="6476863"/>
            <a:ext cx="8434457" cy="281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Андронов Денис Андреевич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 </a:t>
            </a: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гр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241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-3210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35DE4B-1E3F-B82A-A938-D0EBD955D281}"/>
              </a:ext>
            </a:extLst>
          </p:cNvPr>
          <p:cNvSpPr txBox="1"/>
          <p:nvPr/>
        </p:nvSpPr>
        <p:spPr>
          <a:xfrm>
            <a:off x="130029" y="888221"/>
            <a:ext cx="8434457" cy="299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</a:rPr>
              <a:t>Цели и задачи организации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26EAC0-83DB-8E4B-AE47-7B4BE513E652}"/>
              </a:ext>
            </a:extLst>
          </p:cNvPr>
          <p:cNvSpPr txBox="1"/>
          <p:nvPr/>
        </p:nvSpPr>
        <p:spPr>
          <a:xfrm>
            <a:off x="130029" y="1658159"/>
            <a:ext cx="9878017" cy="30983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37465" lvl="0" fontAlgn="base">
              <a:lnSpc>
                <a:spcPct val="175000"/>
              </a:lnSpc>
              <a:spcAft>
                <a:spcPts val="995"/>
              </a:spcAft>
              <a:buClr>
                <a:srgbClr val="000000"/>
              </a:buClr>
              <a:buSzPts val="1000"/>
            </a:pPr>
            <a:r>
              <a:rPr lang="ru-RU" sz="1400" b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Цели:</a:t>
            </a:r>
            <a:r>
              <a:rPr lang="ru-RU" sz="1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marR="37465" lvl="0" indent="-342900" fontAlgn="base">
              <a:lnSpc>
                <a:spcPct val="112000"/>
              </a:lnSpc>
              <a:spcAft>
                <a:spcPts val="995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ru-RU" sz="1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Снижение затрат на ингредиенты за счет точного учета и минимизации отходов. </a:t>
            </a:r>
          </a:p>
          <a:p>
            <a:pPr marL="342900" marR="37465" lvl="0" indent="-342900" fontAlgn="base">
              <a:lnSpc>
                <a:spcPct val="112000"/>
              </a:lnSpc>
              <a:spcAft>
                <a:spcPts val="995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ru-RU" sz="1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Оптимизация меню на основе анализа востребованности блюд. </a:t>
            </a:r>
          </a:p>
          <a:p>
            <a:pPr marL="342900" marR="37465" lvl="0" indent="-342900" fontAlgn="base">
              <a:lnSpc>
                <a:spcPct val="112000"/>
              </a:lnSpc>
              <a:spcAft>
                <a:spcPts val="995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en-US" sz="1400" u="none" strike="noStrike" dirty="0" err="1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Улучшение</a:t>
            </a:r>
            <a:r>
              <a:rPr lang="en-US" sz="1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400" u="none" strike="noStrike" dirty="0" err="1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планирования</a:t>
            </a:r>
            <a:r>
              <a:rPr lang="en-US" sz="1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400" u="none" strike="noStrike" dirty="0" err="1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закупок</a:t>
            </a:r>
            <a:r>
              <a:rPr lang="en-US" sz="1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400" u="none" strike="noStrike" dirty="0" err="1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продуктов</a:t>
            </a:r>
            <a:r>
              <a:rPr lang="en-US" sz="1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</a:t>
            </a:r>
            <a:endParaRPr lang="ru-RU" sz="14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6350" marR="970915" indent="-6350">
              <a:lnSpc>
                <a:spcPct val="107000"/>
              </a:lnSpc>
              <a:spcAft>
                <a:spcPts val="760"/>
              </a:spcAft>
            </a:pPr>
            <a:r>
              <a:rPr lang="en-US" sz="1400" b="1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Задачи</a:t>
            </a:r>
            <a:r>
              <a:rPr lang="en-US" sz="14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</a:t>
            </a:r>
            <a:r>
              <a:rPr lang="en-US" sz="14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endParaRPr lang="ru-RU" sz="1400" dirty="0">
              <a:solidFill>
                <a:srgbClr val="000000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marR="37465" lvl="0" indent="-342900" fontAlgn="base">
              <a:lnSpc>
                <a:spcPct val="112000"/>
              </a:lnSpc>
              <a:spcAft>
                <a:spcPts val="995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ru-RU" sz="1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Внедрение системы автоматического списания ингредиентов при приготовлении блюд. </a:t>
            </a:r>
          </a:p>
          <a:p>
            <a:pPr marL="342900" marR="37465" lvl="0" indent="-342900" fontAlgn="base">
              <a:lnSpc>
                <a:spcPct val="112000"/>
              </a:lnSpc>
              <a:spcAft>
                <a:spcPts val="995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ru-RU" sz="1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Разработка отчетов для анализа расхода продуктов. </a:t>
            </a:r>
          </a:p>
          <a:p>
            <a:pPr marL="342900" marR="37465" lvl="0" indent="-342900" fontAlgn="base">
              <a:lnSpc>
                <a:spcPct val="175000"/>
              </a:lnSpc>
              <a:spcAft>
                <a:spcPts val="995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ru-RU" sz="1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Интеграция данных о заказах с системой учета ингредиентов.</a:t>
            </a:r>
          </a:p>
        </p:txBody>
      </p:sp>
    </p:spTree>
    <p:extLst>
      <p:ext uri="{BB962C8B-B14F-4D97-AF65-F5344CB8AC3E}">
        <p14:creationId xmlns:p14="http://schemas.microsoft.com/office/powerpoint/2010/main" val="644137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B3D9A-1FBB-5BF3-0E08-393DB23D2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B4F60F-D5CF-3756-6146-5EDD7EEB3B12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FD2CE6E-1969-9D2D-E8CE-75E93395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2594" y="6186956"/>
            <a:ext cx="1164356" cy="610899"/>
          </a:xfrm>
        </p:spPr>
        <p:txBody>
          <a:bodyPr/>
          <a:lstStyle/>
          <a:p>
            <a:pPr algn="r"/>
            <a:fld id="{A01BE76D-E181-4177-862E-40D97C82BFEB}" type="slidenum">
              <a:rPr lang="ru-RU" sz="3200" smtClean="0"/>
              <a:pPr algn="r"/>
              <a:t>5</a:t>
            </a:fld>
            <a:endParaRPr lang="ru-RU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E831B0-7156-D882-2D08-0D00A04A6D92}"/>
              </a:ext>
            </a:extLst>
          </p:cNvPr>
          <p:cNvSpPr txBox="1"/>
          <p:nvPr/>
        </p:nvSpPr>
        <p:spPr>
          <a:xfrm>
            <a:off x="130029" y="6476863"/>
            <a:ext cx="8434457" cy="281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Андронов Денис Андреевич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 </a:t>
            </a: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гр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241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-3210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35DE4B-1E3F-B82A-A938-D0EBD955D281}"/>
              </a:ext>
            </a:extLst>
          </p:cNvPr>
          <p:cNvSpPr txBox="1"/>
          <p:nvPr/>
        </p:nvSpPr>
        <p:spPr>
          <a:xfrm>
            <a:off x="130029" y="888221"/>
            <a:ext cx="8434457" cy="299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 err="1">
                <a:solidFill>
                  <a:prstClr val="black"/>
                </a:solidFill>
                <a:latin typeface="+mj-lt"/>
              </a:rPr>
              <a:t>Ц</a:t>
            </a:r>
            <a:r>
              <a:rPr lang="ru-RU" sz="2000" b="1" dirty="0">
                <a:solidFill>
                  <a:prstClr val="black"/>
                </a:solidFill>
                <a:latin typeface="+mj-lt"/>
              </a:rPr>
              <a:t>ели и задачи проектирования</a:t>
            </a:r>
            <a:endParaRPr kumimoji="0" lang="ru-RU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26EAC0-83DB-8E4B-AE47-7B4BE513E652}"/>
              </a:ext>
            </a:extLst>
          </p:cNvPr>
          <p:cNvSpPr txBox="1"/>
          <p:nvPr/>
        </p:nvSpPr>
        <p:spPr>
          <a:xfrm>
            <a:off x="130029" y="1658159"/>
            <a:ext cx="9878017" cy="2919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37465" lvl="0" indent="-342900" fontAlgn="base">
              <a:lnSpc>
                <a:spcPct val="175000"/>
              </a:lnSpc>
              <a:spcAft>
                <a:spcPts val="995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ru-RU" sz="1400" b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Цели проектирования:</a:t>
            </a:r>
            <a:r>
              <a:rPr lang="ru-RU" sz="1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marR="37465" lvl="0" indent="-342900" fontAlgn="base">
              <a:lnSpc>
                <a:spcPct val="112000"/>
              </a:lnSpc>
              <a:spcAft>
                <a:spcPts val="68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ru-RU" sz="1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Создание системы для отслеживания использования ингредиентов в режиме реального времени. </a:t>
            </a:r>
          </a:p>
          <a:p>
            <a:pPr marL="342900" marR="37465" lvl="0" indent="-342900" fontAlgn="base">
              <a:lnSpc>
                <a:spcPct val="112000"/>
              </a:lnSpc>
              <a:spcAft>
                <a:spcPts val="995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ru-RU" sz="1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Автоматизация формирования отчетов для анализа и принятия решений. </a:t>
            </a:r>
          </a:p>
          <a:p>
            <a:pPr marL="6350" marR="970915" indent="-6350">
              <a:lnSpc>
                <a:spcPct val="107000"/>
              </a:lnSpc>
              <a:spcAft>
                <a:spcPts val="755"/>
              </a:spcAft>
            </a:pPr>
            <a:r>
              <a:rPr lang="en-US" sz="1400" b="1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Задачи</a:t>
            </a:r>
            <a:r>
              <a:rPr lang="en-US" sz="14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проектирования</a:t>
            </a:r>
            <a:r>
              <a:rPr lang="en-US" sz="14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</a:t>
            </a:r>
            <a:r>
              <a:rPr lang="en-US" sz="14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endParaRPr lang="ru-RU" sz="1400" dirty="0">
              <a:solidFill>
                <a:srgbClr val="000000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marR="37465" lvl="0" indent="-342900" fontAlgn="base">
              <a:lnSpc>
                <a:spcPct val="112000"/>
              </a:lnSpc>
              <a:spcAft>
                <a:spcPts val="675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ru-RU" sz="1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Разработка базы данных рецептов с указанием норм ингредиентов на каждое блюдо, </a:t>
            </a:r>
          </a:p>
          <a:p>
            <a:pPr marL="342900" marR="37465" lvl="0" indent="-342900" fontAlgn="base">
              <a:lnSpc>
                <a:spcPct val="112000"/>
              </a:lnSpc>
              <a:spcAft>
                <a:spcPts val="995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ru-RU" sz="1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Интеграция системы учета с кассовым ПО для автоматического списания продуктов, </a:t>
            </a:r>
          </a:p>
          <a:p>
            <a:pPr marL="342900" marR="37465" lvl="0" indent="-342900" fontAlgn="base">
              <a:lnSpc>
                <a:spcPct val="112000"/>
              </a:lnSpc>
              <a:spcAft>
                <a:spcPts val="995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ru-RU" sz="1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Создание </a:t>
            </a:r>
            <a:r>
              <a:rPr lang="ru-RU" sz="1400" u="none" strike="noStrike" dirty="0" err="1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дашбордов</a:t>
            </a:r>
            <a:r>
              <a:rPr lang="ru-RU" sz="1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для визуализации данных: </a:t>
            </a:r>
            <a:r>
              <a:rPr lang="en-US" sz="1400" u="none" strike="noStrike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marR="37465" lvl="0" indent="-342900" fontAlgn="base">
              <a:lnSpc>
                <a:spcPct val="112000"/>
              </a:lnSpc>
              <a:spcAft>
                <a:spcPts val="995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ru-RU" sz="1400" u="none" strike="noStrike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топ </a:t>
            </a:r>
            <a:r>
              <a:rPr lang="ru-RU" sz="1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популярных блюд, </a:t>
            </a:r>
            <a:r>
              <a:rPr lang="en-US" sz="1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 </a:t>
            </a:r>
            <a:r>
              <a:rPr lang="ru-RU" sz="1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динамика расхода ингредиентов, </a:t>
            </a:r>
            <a:r>
              <a:rPr lang="en-US" sz="1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 </a:t>
            </a:r>
            <a:r>
              <a:rPr lang="ru-RU" sz="1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прогноз потребности в закупках; </a:t>
            </a:r>
          </a:p>
        </p:txBody>
      </p:sp>
    </p:spTree>
    <p:extLst>
      <p:ext uri="{BB962C8B-B14F-4D97-AF65-F5344CB8AC3E}">
        <p14:creationId xmlns:p14="http://schemas.microsoft.com/office/powerpoint/2010/main" val="3317278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B3D9A-1FBB-5BF3-0E08-393DB23D2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B4F60F-D5CF-3756-6146-5EDD7EEB3B12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FD2CE6E-1969-9D2D-E8CE-75E93395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2594" y="6186956"/>
            <a:ext cx="1164356" cy="610899"/>
          </a:xfrm>
        </p:spPr>
        <p:txBody>
          <a:bodyPr/>
          <a:lstStyle/>
          <a:p>
            <a:pPr algn="r"/>
            <a:fld id="{A01BE76D-E181-4177-862E-40D97C82BFEB}" type="slidenum">
              <a:rPr lang="ru-RU" sz="3200" smtClean="0"/>
              <a:pPr algn="r"/>
              <a:t>6</a:t>
            </a:fld>
            <a:endParaRPr lang="ru-RU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E831B0-7156-D882-2D08-0D00A04A6D92}"/>
              </a:ext>
            </a:extLst>
          </p:cNvPr>
          <p:cNvSpPr txBox="1"/>
          <p:nvPr/>
        </p:nvSpPr>
        <p:spPr>
          <a:xfrm>
            <a:off x="130029" y="6476863"/>
            <a:ext cx="8434457" cy="281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Андронов Денис Андреевич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 </a:t>
            </a: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гр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241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-3210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35DE4B-1E3F-B82A-A938-D0EBD955D281}"/>
              </a:ext>
            </a:extLst>
          </p:cNvPr>
          <p:cNvSpPr txBox="1"/>
          <p:nvPr/>
        </p:nvSpPr>
        <p:spPr>
          <a:xfrm>
            <a:off x="130029" y="888221"/>
            <a:ext cx="8434457" cy="299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</a:rPr>
              <a:t>Структурная схема организации</a:t>
            </a:r>
          </a:p>
        </p:txBody>
      </p:sp>
      <p:pic>
        <p:nvPicPr>
          <p:cNvPr id="7" name="Picture 1610">
            <a:extLst>
              <a:ext uri="{FF2B5EF4-FFF2-40B4-BE49-F238E27FC236}">
                <a16:creationId xmlns:a16="http://schemas.microsoft.com/office/drawing/2014/main" id="{C5A671CB-4093-A744-9BA2-6F90E873E3A5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65050" y="1386172"/>
            <a:ext cx="9501447" cy="4892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992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B3D9A-1FBB-5BF3-0E08-393DB23D2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B4F60F-D5CF-3756-6146-5EDD7EEB3B12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FD2CE6E-1969-9D2D-E8CE-75E93395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2594" y="6186956"/>
            <a:ext cx="1164356" cy="610899"/>
          </a:xfrm>
        </p:spPr>
        <p:txBody>
          <a:bodyPr/>
          <a:lstStyle/>
          <a:p>
            <a:pPr algn="r"/>
            <a:fld id="{A01BE76D-E181-4177-862E-40D97C82BFEB}" type="slidenum">
              <a:rPr lang="ru-RU" sz="3200" smtClean="0"/>
              <a:pPr algn="r"/>
              <a:t>7</a:t>
            </a:fld>
            <a:endParaRPr lang="ru-RU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E831B0-7156-D882-2D08-0D00A04A6D92}"/>
              </a:ext>
            </a:extLst>
          </p:cNvPr>
          <p:cNvSpPr txBox="1"/>
          <p:nvPr/>
        </p:nvSpPr>
        <p:spPr>
          <a:xfrm>
            <a:off x="130029" y="6476863"/>
            <a:ext cx="8434457" cy="281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Андронов Денис Андреевич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 </a:t>
            </a: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гр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241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-3210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35DE4B-1E3F-B82A-A938-D0EBD955D281}"/>
              </a:ext>
            </a:extLst>
          </p:cNvPr>
          <p:cNvSpPr txBox="1"/>
          <p:nvPr/>
        </p:nvSpPr>
        <p:spPr>
          <a:xfrm>
            <a:off x="130029" y="888221"/>
            <a:ext cx="8434457" cy="299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</a:rPr>
              <a:t>Схема организационной структуры</a:t>
            </a:r>
          </a:p>
        </p:txBody>
      </p:sp>
      <p:pic>
        <p:nvPicPr>
          <p:cNvPr id="8" name="Picture 1684">
            <a:extLst>
              <a:ext uri="{FF2B5EF4-FFF2-40B4-BE49-F238E27FC236}">
                <a16:creationId xmlns:a16="http://schemas.microsoft.com/office/drawing/2014/main" id="{D9476878-1C13-5B4F-B62C-8A99CB7648C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30029" y="1335025"/>
            <a:ext cx="9928371" cy="4992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214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B3D9A-1FBB-5BF3-0E08-393DB23D2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B4F60F-D5CF-3756-6146-5EDD7EEB3B12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FD2CE6E-1969-9D2D-E8CE-75E93395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2594" y="6186956"/>
            <a:ext cx="1164356" cy="610899"/>
          </a:xfrm>
        </p:spPr>
        <p:txBody>
          <a:bodyPr/>
          <a:lstStyle/>
          <a:p>
            <a:pPr algn="r"/>
            <a:fld id="{A01BE76D-E181-4177-862E-40D97C82BFEB}" type="slidenum">
              <a:rPr lang="ru-RU" sz="3200" smtClean="0"/>
              <a:pPr algn="r"/>
              <a:t>8</a:t>
            </a:fld>
            <a:endParaRPr lang="ru-RU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E831B0-7156-D882-2D08-0D00A04A6D92}"/>
              </a:ext>
            </a:extLst>
          </p:cNvPr>
          <p:cNvSpPr txBox="1"/>
          <p:nvPr/>
        </p:nvSpPr>
        <p:spPr>
          <a:xfrm>
            <a:off x="130029" y="6476863"/>
            <a:ext cx="8434457" cy="281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Андронов Денис Андреевич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 </a:t>
            </a: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гр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241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-3210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35DE4B-1E3F-B82A-A938-D0EBD955D281}"/>
              </a:ext>
            </a:extLst>
          </p:cNvPr>
          <p:cNvSpPr txBox="1"/>
          <p:nvPr/>
        </p:nvSpPr>
        <p:spPr>
          <a:xfrm>
            <a:off x="130029" y="888221"/>
            <a:ext cx="8434457" cy="299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</a:rPr>
              <a:t>Контекстная диаграмма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</a:rPr>
              <a:t>IDEF0(AS-IS)</a:t>
            </a:r>
            <a:endParaRPr kumimoji="0" lang="ru-RU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Рукописный ввод 4">
                <a:extLst>
                  <a:ext uri="{FF2B5EF4-FFF2-40B4-BE49-F238E27FC236}">
                    <a16:creationId xmlns:a16="http://schemas.microsoft.com/office/drawing/2014/main" id="{B0CBFE14-C2C5-6C4C-A498-015BE2852DE4}"/>
                  </a:ext>
                </a:extLst>
              </p14:cNvPr>
              <p14:cNvContentPartPr/>
              <p14:nvPr/>
            </p14:nvContentPartPr>
            <p14:xfrm>
              <a:off x="4753931" y="3455415"/>
              <a:ext cx="262440" cy="12960"/>
            </p14:xfrm>
          </p:contentPart>
        </mc:Choice>
        <mc:Fallback xmlns="">
          <p:pic>
            <p:nvPicPr>
              <p:cNvPr id="5" name="Рукописный ввод 4">
                <a:extLst>
                  <a:ext uri="{FF2B5EF4-FFF2-40B4-BE49-F238E27FC236}">
                    <a16:creationId xmlns:a16="http://schemas.microsoft.com/office/drawing/2014/main" id="{B0CBFE14-C2C5-6C4C-A498-015BE2852DE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91291" y="3392775"/>
                <a:ext cx="388080" cy="13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Рукописный ввод 6">
                <a:extLst>
                  <a:ext uri="{FF2B5EF4-FFF2-40B4-BE49-F238E27FC236}">
                    <a16:creationId xmlns:a16="http://schemas.microsoft.com/office/drawing/2014/main" id="{98E3E258-251A-B847-A418-F1ADEF416A41}"/>
                  </a:ext>
                </a:extLst>
              </p14:cNvPr>
              <p14:cNvContentPartPr/>
              <p14:nvPr/>
            </p14:nvContentPartPr>
            <p14:xfrm>
              <a:off x="5015651" y="3443895"/>
              <a:ext cx="892800" cy="74160"/>
            </p14:xfrm>
          </p:contentPart>
        </mc:Choice>
        <mc:Fallback xmlns="">
          <p:pic>
            <p:nvPicPr>
              <p:cNvPr id="7" name="Рукописный ввод 6">
                <a:extLst>
                  <a:ext uri="{FF2B5EF4-FFF2-40B4-BE49-F238E27FC236}">
                    <a16:creationId xmlns:a16="http://schemas.microsoft.com/office/drawing/2014/main" id="{98E3E258-251A-B847-A418-F1ADEF416A4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952651" y="3381255"/>
                <a:ext cx="1018440" cy="19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2" name="Рукописный ввод 11">
                <a:extLst>
                  <a:ext uri="{FF2B5EF4-FFF2-40B4-BE49-F238E27FC236}">
                    <a16:creationId xmlns:a16="http://schemas.microsoft.com/office/drawing/2014/main" id="{94169B8F-215B-F547-BDCF-938B31B07E34}"/>
                  </a:ext>
                </a:extLst>
              </p14:cNvPr>
              <p14:cNvContentPartPr/>
              <p14:nvPr/>
            </p14:nvContentPartPr>
            <p14:xfrm>
              <a:off x="4567451" y="3528495"/>
              <a:ext cx="1419120" cy="569880"/>
            </p14:xfrm>
          </p:contentPart>
        </mc:Choice>
        <mc:Fallback xmlns="">
          <p:pic>
            <p:nvPicPr>
              <p:cNvPr id="12" name="Рукописный ввод 11">
                <a:extLst>
                  <a:ext uri="{FF2B5EF4-FFF2-40B4-BE49-F238E27FC236}">
                    <a16:creationId xmlns:a16="http://schemas.microsoft.com/office/drawing/2014/main" id="{94169B8F-215B-F547-BDCF-938B31B07E3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504451" y="3465855"/>
                <a:ext cx="1544760" cy="69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3" name="Рукописный ввод 12">
                <a:extLst>
                  <a:ext uri="{FF2B5EF4-FFF2-40B4-BE49-F238E27FC236}">
                    <a16:creationId xmlns:a16="http://schemas.microsoft.com/office/drawing/2014/main" id="{7BA55C65-45D4-8C44-9A2A-719FB656C4BE}"/>
                  </a:ext>
                </a:extLst>
              </p14:cNvPr>
              <p14:cNvContentPartPr/>
              <p14:nvPr/>
            </p14:nvContentPartPr>
            <p14:xfrm>
              <a:off x="4300691" y="3795255"/>
              <a:ext cx="360" cy="360"/>
            </p14:xfrm>
          </p:contentPart>
        </mc:Choice>
        <mc:Fallback xmlns="">
          <p:pic>
            <p:nvPicPr>
              <p:cNvPr id="13" name="Рукописный ввод 12">
                <a:extLst>
                  <a:ext uri="{FF2B5EF4-FFF2-40B4-BE49-F238E27FC236}">
                    <a16:creationId xmlns:a16="http://schemas.microsoft.com/office/drawing/2014/main" id="{7BA55C65-45D4-8C44-9A2A-719FB656C4B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238051" y="3732255"/>
                <a:ext cx="126000" cy="126000"/>
              </a:xfrm>
              <a:prstGeom prst="rect">
                <a:avLst/>
              </a:prstGeom>
            </p:spPr>
          </p:pic>
        </mc:Fallback>
      </mc:AlternateContent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0BCE58F-79B1-AB4A-8F58-4BB7DB317FD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70666" y="1489355"/>
            <a:ext cx="6614583" cy="46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9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B3D9A-1FBB-5BF3-0E08-393DB23D2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B4F60F-D5CF-3756-6146-5EDD7EEB3B12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FD2CE6E-1969-9D2D-E8CE-75E93395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2594" y="6186956"/>
            <a:ext cx="1164356" cy="610899"/>
          </a:xfrm>
        </p:spPr>
        <p:txBody>
          <a:bodyPr/>
          <a:lstStyle/>
          <a:p>
            <a:pPr algn="r"/>
            <a:fld id="{A01BE76D-E181-4177-862E-40D97C82BFEB}" type="slidenum">
              <a:rPr lang="ru-RU" sz="3200" smtClean="0"/>
              <a:pPr algn="r"/>
              <a:t>9</a:t>
            </a:fld>
            <a:endParaRPr lang="ru-RU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E831B0-7156-D882-2D08-0D00A04A6D92}"/>
              </a:ext>
            </a:extLst>
          </p:cNvPr>
          <p:cNvSpPr txBox="1"/>
          <p:nvPr/>
        </p:nvSpPr>
        <p:spPr>
          <a:xfrm>
            <a:off x="130029" y="6476863"/>
            <a:ext cx="8434457" cy="281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Андронов Денис Андреевич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 </a:t>
            </a: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гр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241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-3210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35DE4B-1E3F-B82A-A938-D0EBD955D281}"/>
              </a:ext>
            </a:extLst>
          </p:cNvPr>
          <p:cNvSpPr txBox="1"/>
          <p:nvPr/>
        </p:nvSpPr>
        <p:spPr>
          <a:xfrm>
            <a:off x="130029" y="888221"/>
            <a:ext cx="8434457" cy="299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 err="1">
                <a:solidFill>
                  <a:prstClr val="black"/>
                </a:solidFill>
                <a:latin typeface="+mj-lt"/>
              </a:rPr>
              <a:t>Д</a:t>
            </a:r>
            <a:r>
              <a:rPr lang="ru-RU" sz="2000" b="1" dirty="0" err="1">
                <a:solidFill>
                  <a:prstClr val="black"/>
                </a:solidFill>
                <a:latin typeface="+mj-lt"/>
              </a:rPr>
              <a:t>екомпозиция</a:t>
            </a:r>
            <a:r>
              <a:rPr lang="ru-RU" sz="2000" b="1" dirty="0">
                <a:solidFill>
                  <a:prstClr val="black"/>
                </a:solidFill>
                <a:latin typeface="+mj-lt"/>
              </a:rPr>
              <a:t> контекстной диаграммы</a:t>
            </a:r>
            <a:endParaRPr kumimoji="0" lang="ru-RU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ED09530-6A08-C34B-AA33-34CB7E671C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2017" y="1329206"/>
            <a:ext cx="7907965" cy="485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5629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B3D9A-1FBB-5BF3-0E08-393DB23D2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B4F60F-D5CF-3756-6146-5EDD7EEB3B12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FD2CE6E-1969-9D2D-E8CE-75E93395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2594" y="6186956"/>
            <a:ext cx="1164356" cy="610899"/>
          </a:xfrm>
        </p:spPr>
        <p:txBody>
          <a:bodyPr/>
          <a:lstStyle/>
          <a:p>
            <a:pPr algn="r"/>
            <a:fld id="{A01BE76D-E181-4177-862E-40D97C82BFEB}" type="slidenum">
              <a:rPr lang="ru-RU" sz="3200" smtClean="0"/>
              <a:pPr algn="r"/>
              <a:t>10</a:t>
            </a:fld>
            <a:endParaRPr lang="ru-RU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E831B0-7156-D882-2D08-0D00A04A6D92}"/>
              </a:ext>
            </a:extLst>
          </p:cNvPr>
          <p:cNvSpPr txBox="1"/>
          <p:nvPr/>
        </p:nvSpPr>
        <p:spPr>
          <a:xfrm>
            <a:off x="130029" y="6476863"/>
            <a:ext cx="8434457" cy="281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Андронов Денис Андреевич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 </a:t>
            </a: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гр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241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-3210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35DE4B-1E3F-B82A-A938-D0EBD955D281}"/>
              </a:ext>
            </a:extLst>
          </p:cNvPr>
          <p:cNvSpPr txBox="1"/>
          <p:nvPr/>
        </p:nvSpPr>
        <p:spPr>
          <a:xfrm>
            <a:off x="130029" y="888221"/>
            <a:ext cx="8434457" cy="299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</a:rPr>
              <a:t>Контекстная диаграмма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</a:rPr>
              <a:t>IDEF0(</a:t>
            </a:r>
            <a:r>
              <a:rPr lang="ru-RU" sz="2000" b="1" dirty="0" err="1">
                <a:solidFill>
                  <a:prstClr val="black"/>
                </a:solidFill>
                <a:latin typeface="+mj-lt"/>
              </a:rPr>
              <a:t>T</a:t>
            </a:r>
            <a:r>
              <a:rPr lang="en-US" sz="2000" b="1" dirty="0">
                <a:solidFill>
                  <a:prstClr val="black"/>
                </a:solidFill>
                <a:latin typeface="+mj-lt"/>
              </a:rPr>
              <a:t>O-BE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</a:rPr>
              <a:t>)</a:t>
            </a:r>
            <a:endParaRPr kumimoji="0" lang="ru-RU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7E468E6-73E9-224D-BD40-DD906CE380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5582" y="1533246"/>
            <a:ext cx="6310394" cy="4436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9851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B3D9A-1FBB-5BF3-0E08-393DB23D2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B4F60F-D5CF-3756-6146-5EDD7EEB3B12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FD2CE6E-1969-9D2D-E8CE-75E93395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2594" y="6186956"/>
            <a:ext cx="1164356" cy="610899"/>
          </a:xfrm>
        </p:spPr>
        <p:txBody>
          <a:bodyPr/>
          <a:lstStyle/>
          <a:p>
            <a:pPr algn="r"/>
            <a:fld id="{A01BE76D-E181-4177-862E-40D97C82BFEB}" type="slidenum">
              <a:rPr lang="ru-RU" sz="3200" smtClean="0"/>
              <a:pPr algn="r"/>
              <a:t>11</a:t>
            </a:fld>
            <a:endParaRPr lang="ru-RU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E831B0-7156-D882-2D08-0D00A04A6D92}"/>
              </a:ext>
            </a:extLst>
          </p:cNvPr>
          <p:cNvSpPr txBox="1"/>
          <p:nvPr/>
        </p:nvSpPr>
        <p:spPr>
          <a:xfrm>
            <a:off x="130029" y="6476863"/>
            <a:ext cx="8434457" cy="281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Андронов Денис Андреевич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 </a:t>
            </a: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гр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241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-3210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35DE4B-1E3F-B82A-A938-D0EBD955D281}"/>
              </a:ext>
            </a:extLst>
          </p:cNvPr>
          <p:cNvSpPr txBox="1"/>
          <p:nvPr/>
        </p:nvSpPr>
        <p:spPr>
          <a:xfrm>
            <a:off x="130029" y="888221"/>
            <a:ext cx="8434457" cy="299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 err="1">
                <a:solidFill>
                  <a:prstClr val="black"/>
                </a:solidFill>
                <a:latin typeface="+mj-lt"/>
              </a:rPr>
              <a:t>Д</a:t>
            </a:r>
            <a:r>
              <a:rPr lang="ru-RU" sz="2000" b="1" dirty="0" err="1">
                <a:solidFill>
                  <a:prstClr val="black"/>
                </a:solidFill>
                <a:latin typeface="+mj-lt"/>
              </a:rPr>
              <a:t>екомпозиция</a:t>
            </a:r>
            <a:r>
              <a:rPr lang="ru-RU" sz="2000" b="1" dirty="0">
                <a:solidFill>
                  <a:prstClr val="black"/>
                </a:solidFill>
                <a:latin typeface="+mj-lt"/>
              </a:rPr>
              <a:t> контекстной диаграммы</a:t>
            </a:r>
            <a:endParaRPr kumimoji="0" lang="ru-RU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302E99D-4D90-484A-A955-5FA16B526D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6839" y="1551729"/>
            <a:ext cx="7678321" cy="4635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5302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B3D9A-1FBB-5BF3-0E08-393DB23D2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B4F60F-D5CF-3756-6146-5EDD7EEB3B12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FD2CE6E-1969-9D2D-E8CE-75E93395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80171" y="5698671"/>
            <a:ext cx="1787979" cy="1047296"/>
          </a:xfrm>
        </p:spPr>
        <p:txBody>
          <a:bodyPr/>
          <a:lstStyle/>
          <a:p>
            <a:fld id="{A01BE76D-E181-4177-862E-40D97C82BFEB}" type="slidenum">
              <a:rPr lang="ru-RU" smtClean="0"/>
              <a:pPr/>
              <a:t>12</a:t>
            </a:fld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E831B0-7156-D882-2D08-0D00A04A6D92}"/>
              </a:ext>
            </a:extLst>
          </p:cNvPr>
          <p:cNvSpPr txBox="1"/>
          <p:nvPr/>
        </p:nvSpPr>
        <p:spPr>
          <a:xfrm>
            <a:off x="130029" y="6476863"/>
            <a:ext cx="8434457" cy="281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Андронов Денис Андреевич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 </a:t>
            </a: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гр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241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-3210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35DE4B-1E3F-B82A-A938-D0EBD955D281}"/>
              </a:ext>
            </a:extLst>
          </p:cNvPr>
          <p:cNvSpPr txBox="1"/>
          <p:nvPr/>
        </p:nvSpPr>
        <p:spPr>
          <a:xfrm>
            <a:off x="130029" y="888221"/>
            <a:ext cx="8434457" cy="299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b="1" dirty="0">
                <a:solidFill>
                  <a:prstClr val="black"/>
                </a:solidFill>
                <a:latin typeface="+mj-lt"/>
              </a:rPr>
              <a:t>Диаграмма </a:t>
            </a:r>
            <a:r>
              <a:rPr lang="ru-RU" sz="2000" b="1" dirty="0" err="1">
                <a:solidFill>
                  <a:prstClr val="black"/>
                </a:solidFill>
                <a:latin typeface="+mj-lt"/>
              </a:rPr>
              <a:t>I</a:t>
            </a:r>
            <a:r>
              <a:rPr lang="en-US" sz="2000" b="1" dirty="0">
                <a:solidFill>
                  <a:prstClr val="black"/>
                </a:solidFill>
                <a:latin typeface="+mj-lt"/>
              </a:rPr>
              <a:t>DEF3</a:t>
            </a:r>
            <a:endParaRPr kumimoji="0" lang="ru-RU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</a:endParaRPr>
          </a:p>
        </p:txBody>
      </p:sp>
      <p:pic>
        <p:nvPicPr>
          <p:cNvPr id="7" name="Picture 2564">
            <a:extLst>
              <a:ext uri="{FF2B5EF4-FFF2-40B4-BE49-F238E27FC236}">
                <a16:creationId xmlns:a16="http://schemas.microsoft.com/office/drawing/2014/main" id="{48D9B985-A3F6-4C41-9B8D-C16A8364581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30029" y="1187598"/>
            <a:ext cx="8877784" cy="5289265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098BE82-D038-B042-8D15-0ED14233F3A1}"/>
              </a:ext>
            </a:extLst>
          </p:cNvPr>
          <p:cNvSpPr/>
          <p:nvPr/>
        </p:nvSpPr>
        <p:spPr>
          <a:xfrm>
            <a:off x="770021" y="1684421"/>
            <a:ext cx="489284" cy="1443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62763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B3D9A-1FBB-5BF3-0E08-393DB23D2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B4F60F-D5CF-3756-6146-5EDD7EEB3B12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FD2CE6E-1969-9D2D-E8CE-75E93395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2594" y="6186956"/>
            <a:ext cx="1164356" cy="610899"/>
          </a:xfrm>
        </p:spPr>
        <p:txBody>
          <a:bodyPr/>
          <a:lstStyle/>
          <a:p>
            <a:pPr algn="r"/>
            <a:fld id="{A01BE76D-E181-4177-862E-40D97C82BFEB}" type="slidenum">
              <a:rPr lang="ru-RU" sz="3200" smtClean="0"/>
              <a:pPr algn="r"/>
              <a:t>13</a:t>
            </a:fld>
            <a:endParaRPr lang="ru-RU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E831B0-7156-D882-2D08-0D00A04A6D92}"/>
              </a:ext>
            </a:extLst>
          </p:cNvPr>
          <p:cNvSpPr txBox="1"/>
          <p:nvPr/>
        </p:nvSpPr>
        <p:spPr>
          <a:xfrm>
            <a:off x="130029" y="6476863"/>
            <a:ext cx="8434457" cy="281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Андронов Денис Андреевич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 </a:t>
            </a: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гр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241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-3210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35DE4B-1E3F-B82A-A938-D0EBD955D281}"/>
              </a:ext>
            </a:extLst>
          </p:cNvPr>
          <p:cNvSpPr txBox="1"/>
          <p:nvPr/>
        </p:nvSpPr>
        <p:spPr>
          <a:xfrm>
            <a:off x="130029" y="888221"/>
            <a:ext cx="8434457" cy="299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b="1" dirty="0">
                <a:solidFill>
                  <a:prstClr val="black"/>
                </a:solidFill>
                <a:latin typeface="+mj-lt"/>
              </a:rPr>
              <a:t>Диаграмма </a:t>
            </a:r>
            <a:r>
              <a:rPr lang="ru-RU" sz="2000" b="1" dirty="0" err="1">
                <a:solidFill>
                  <a:prstClr val="black"/>
                </a:solidFill>
                <a:latin typeface="+mj-lt"/>
              </a:rPr>
              <a:t>I</a:t>
            </a:r>
            <a:r>
              <a:rPr lang="en-US" sz="2000" b="1" dirty="0">
                <a:solidFill>
                  <a:prstClr val="black"/>
                </a:solidFill>
                <a:latin typeface="+mj-lt"/>
              </a:rPr>
              <a:t>DEF3</a:t>
            </a:r>
            <a:r>
              <a:rPr lang="ru-RU" sz="2000" b="1" dirty="0">
                <a:solidFill>
                  <a:prstClr val="black"/>
                </a:solidFill>
                <a:latin typeface="+mj-lt"/>
              </a:rPr>
              <a:t>(Продолжение)</a:t>
            </a:r>
            <a:endParaRPr kumimoji="0" lang="ru-RU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098BE82-D038-B042-8D15-0ED14233F3A1}"/>
              </a:ext>
            </a:extLst>
          </p:cNvPr>
          <p:cNvSpPr/>
          <p:nvPr/>
        </p:nvSpPr>
        <p:spPr>
          <a:xfrm>
            <a:off x="770021" y="1684421"/>
            <a:ext cx="489284" cy="1443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Picture 2751">
            <a:extLst>
              <a:ext uri="{FF2B5EF4-FFF2-40B4-BE49-F238E27FC236}">
                <a16:creationId xmlns:a16="http://schemas.microsoft.com/office/drawing/2014/main" id="{2A123E68-2F92-9B4A-9ACE-1728AA3240D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30029" y="1187598"/>
            <a:ext cx="9398019" cy="4782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2419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B3D9A-1FBB-5BF3-0E08-393DB23D2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B4F60F-D5CF-3756-6146-5EDD7EEB3B12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FD2CE6E-1969-9D2D-E8CE-75E93395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2594" y="6186956"/>
            <a:ext cx="1164356" cy="610899"/>
          </a:xfrm>
        </p:spPr>
        <p:txBody>
          <a:bodyPr/>
          <a:lstStyle/>
          <a:p>
            <a:pPr algn="r"/>
            <a:fld id="{A01BE76D-E181-4177-862E-40D97C82BFEB}" type="slidenum">
              <a:rPr lang="ru-RU" sz="3200" smtClean="0"/>
              <a:pPr algn="r"/>
              <a:t>14</a:t>
            </a:fld>
            <a:endParaRPr lang="ru-RU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E831B0-7156-D882-2D08-0D00A04A6D92}"/>
              </a:ext>
            </a:extLst>
          </p:cNvPr>
          <p:cNvSpPr txBox="1"/>
          <p:nvPr/>
        </p:nvSpPr>
        <p:spPr>
          <a:xfrm>
            <a:off x="130029" y="6476863"/>
            <a:ext cx="8434457" cy="281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Андронов Денис Андреевич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 </a:t>
            </a: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гр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241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-3210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35DE4B-1E3F-B82A-A938-D0EBD955D281}"/>
              </a:ext>
            </a:extLst>
          </p:cNvPr>
          <p:cNvSpPr txBox="1"/>
          <p:nvPr/>
        </p:nvSpPr>
        <p:spPr>
          <a:xfrm>
            <a:off x="130029" y="888221"/>
            <a:ext cx="8434457" cy="299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b="1" dirty="0">
                <a:solidFill>
                  <a:prstClr val="black"/>
                </a:solidFill>
                <a:latin typeface="+mj-lt"/>
              </a:rPr>
              <a:t>Диаграмма </a:t>
            </a:r>
            <a:r>
              <a:rPr lang="ru-RU" sz="2000" b="1" dirty="0" err="1">
                <a:solidFill>
                  <a:prstClr val="black"/>
                </a:solidFill>
                <a:latin typeface="+mj-lt"/>
              </a:rPr>
              <a:t>I</a:t>
            </a:r>
            <a:r>
              <a:rPr lang="en-US" sz="2000" b="1" dirty="0">
                <a:solidFill>
                  <a:prstClr val="black"/>
                </a:solidFill>
                <a:latin typeface="+mj-lt"/>
              </a:rPr>
              <a:t>DEF3</a:t>
            </a:r>
            <a:r>
              <a:rPr lang="ru-RU" sz="2000" b="1" dirty="0">
                <a:solidFill>
                  <a:prstClr val="black"/>
                </a:solidFill>
                <a:latin typeface="+mj-lt"/>
              </a:rPr>
              <a:t>(Декомпозиция)</a:t>
            </a:r>
            <a:endParaRPr kumimoji="0" lang="ru-RU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098BE82-D038-B042-8D15-0ED14233F3A1}"/>
              </a:ext>
            </a:extLst>
          </p:cNvPr>
          <p:cNvSpPr/>
          <p:nvPr/>
        </p:nvSpPr>
        <p:spPr>
          <a:xfrm>
            <a:off x="770021" y="1684421"/>
            <a:ext cx="489284" cy="1443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Picture 2755">
            <a:extLst>
              <a:ext uri="{FF2B5EF4-FFF2-40B4-BE49-F238E27FC236}">
                <a16:creationId xmlns:a16="http://schemas.microsoft.com/office/drawing/2014/main" id="{81A51068-0BAA-7848-BDF1-0AFDACCFE14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65050" y="1187598"/>
            <a:ext cx="5364404" cy="5213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6003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355688" y="705942"/>
            <a:ext cx="12502191" cy="428760"/>
          </a:xfrm>
        </p:spPr>
        <p:txBody>
          <a:bodyPr>
            <a:noAutofit/>
          </a:bodyPr>
          <a:lstStyle/>
          <a:p>
            <a:r>
              <a:rPr lang="ru-RU" sz="2800" dirty="0"/>
              <a:t>С п а с и б о    з а   в н и м а н и е !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E462F7-B2A7-4E4D-8555-1647177CEEFC}"/>
              </a:ext>
            </a:extLst>
          </p:cNvPr>
          <p:cNvSpPr txBox="1"/>
          <p:nvPr/>
        </p:nvSpPr>
        <p:spPr>
          <a:xfrm>
            <a:off x="2749501" y="4601157"/>
            <a:ext cx="6249896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dirty="0">
                <a:latin typeface="Gilroy Medium" panose="00000600000000000000" charset="-52"/>
              </a:rPr>
              <a:t>Студент:  Андронов Денис Андреевич, </a:t>
            </a:r>
            <a:r>
              <a:rPr lang="ru-RU" dirty="0">
                <a:latin typeface="Gilroy Medium" panose="00000600000000000000" charset="-52"/>
              </a:rPr>
              <a:t>группа 241-3210</a:t>
            </a:r>
            <a:endParaRPr lang="ru-RU" sz="1800" dirty="0">
              <a:latin typeface="Gilroy Medium" panose="00000600000000000000" charset="-5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C76724-8B7E-49E1-A5D8-0A86497396F2}"/>
              </a:ext>
            </a:extLst>
          </p:cNvPr>
          <p:cNvSpPr txBox="1"/>
          <p:nvPr/>
        </p:nvSpPr>
        <p:spPr>
          <a:xfrm>
            <a:off x="4721568" y="6454765"/>
            <a:ext cx="23057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  <a:ea typeface="+mn-ea"/>
                <a:cs typeface="+mn-cs"/>
              </a:rPr>
              <a:t>2026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C1E841-C2B3-4680-B71A-C0E060431885}"/>
              </a:ext>
            </a:extLst>
          </p:cNvPr>
          <p:cNvSpPr txBox="1"/>
          <p:nvPr/>
        </p:nvSpPr>
        <p:spPr>
          <a:xfrm>
            <a:off x="1047010" y="2736502"/>
            <a:ext cx="965487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ctr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ru-RU" sz="2800" b="1" kern="1200" dirty="0">
                <a:solidFill>
                  <a:srgbClr val="000000"/>
                </a:solidFill>
                <a:effectLst/>
                <a:latin typeface="Gilroy Bold" panose="020B0803050000020004" pitchFamily="34" charset="0"/>
                <a:ea typeface="+mn-ea"/>
                <a:cs typeface="+mn-cs"/>
              </a:rPr>
              <a:t>Проектирование бизнес-процессов и структур в </a:t>
            </a:r>
            <a:r>
              <a:rPr lang="ru-RU" sz="2800" b="1" kern="1200" dirty="0" err="1">
                <a:solidFill>
                  <a:srgbClr val="000000"/>
                </a:solidFill>
                <a:effectLst/>
                <a:latin typeface="Gilroy Bold" panose="020B0803050000020004" pitchFamily="34" charset="0"/>
                <a:ea typeface="+mn-ea"/>
                <a:cs typeface="+mn-cs"/>
              </a:rPr>
              <a:t>вебиндустрии</a:t>
            </a:r>
            <a:endParaRPr lang="ru-RU" sz="2800" dirty="0">
              <a:effectLst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Bold" panose="00000800000000000000" charset="-52"/>
                <a:ea typeface="+mn-ea"/>
                <a:cs typeface="+mn-cs"/>
              </a:rPr>
              <a:t>Лабораторная</a:t>
            </a:r>
            <a:r>
              <a:rPr lang="ru-RU" sz="2800" b="1" dirty="0">
                <a:solidFill>
                  <a:prstClr val="black"/>
                </a:solidFill>
                <a:latin typeface="Gilroy Bold" panose="00000800000000000000" charset="-52"/>
              </a:rPr>
              <a:t> работа №1</a:t>
            </a:r>
            <a:endParaRPr kumimoji="0" lang="ru-RU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Bold" panose="00000800000000000000" charset="-5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414264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2">
  <a:themeElements>
    <a:clrScheme name="Московский Политех">
      <a:dk1>
        <a:sysClr val="windowText" lastClr="000000"/>
      </a:dk1>
      <a:lt1>
        <a:sysClr val="window" lastClr="FFFFFF"/>
      </a:lt1>
      <a:dk2>
        <a:srgbClr val="171616"/>
      </a:dk2>
      <a:lt2>
        <a:srgbClr val="E7E6E6"/>
      </a:lt2>
      <a:accent1>
        <a:srgbClr val="E61E46"/>
      </a:accent1>
      <a:accent2>
        <a:srgbClr val="1E3E8D"/>
      </a:accent2>
      <a:accent3>
        <a:srgbClr val="A5A5A5"/>
      </a:accent3>
      <a:accent4>
        <a:srgbClr val="60DCCA"/>
      </a:accent4>
      <a:accent5>
        <a:srgbClr val="3478BC"/>
      </a:accent5>
      <a:accent6>
        <a:srgbClr val="E94572"/>
      </a:accent6>
      <a:hlink>
        <a:srgbClr val="3478BC"/>
      </a:hlink>
      <a:folHlink>
        <a:srgbClr val="E94572"/>
      </a:folHlink>
    </a:clrScheme>
    <a:fontScheme name="Другая 2">
      <a:majorFont>
        <a:latin typeface="Verdana "/>
        <a:ea typeface=""/>
        <a:cs typeface=""/>
      </a:majorFont>
      <a:minorFont>
        <a:latin typeface="Verdana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политех" id="{706195B2-3338-754E-B596-794E89AA9D73}" vid="{BB8C50E2-D7A2-124C-B4D7-CE11DEE15890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Тема2</Template>
  <TotalTime>1648</TotalTime>
  <Words>467</Words>
  <Application>Microsoft Macintosh PowerPoint</Application>
  <PresentationFormat>Широкоэкранный</PresentationFormat>
  <Paragraphs>96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2" baseType="lpstr">
      <vt:lpstr>Verdana </vt:lpstr>
      <vt:lpstr>Calibri</vt:lpstr>
      <vt:lpstr>Gilroy Bold</vt:lpstr>
      <vt:lpstr>Arial</vt:lpstr>
      <vt:lpstr>Gilroy Medium</vt:lpstr>
      <vt:lpstr>Verdana</vt:lpstr>
      <vt:lpstr>Тема2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 п а с и б о    з а   в н и м а н и е 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Мария Булытова</dc:creator>
  <cp:lastModifiedBy>Microsoft Office User</cp:lastModifiedBy>
  <cp:revision>5</cp:revision>
  <dcterms:created xsi:type="dcterms:W3CDTF">2026-04-09T09:51:26Z</dcterms:created>
  <dcterms:modified xsi:type="dcterms:W3CDTF">2026-05-02T19:31:19Z</dcterms:modified>
</cp:coreProperties>
</file>