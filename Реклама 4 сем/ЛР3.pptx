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96" r:id="rId1"/>
  </p:sldMasterIdLst>
  <p:notesMasterIdLst>
    <p:notesMasterId r:id="rId16"/>
  </p:notesMasterIdLst>
  <p:sldIdLst>
    <p:sldId id="266" r:id="rId2"/>
    <p:sldId id="289" r:id="rId3"/>
    <p:sldId id="290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264" r:id="rId15"/>
  </p:sldIdLst>
  <p:sldSz cx="12192000" cy="6858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Gilroy Bold" panose="020B0803050000020004" pitchFamily="34" charset="0"/>
      <p:bold r:id="rId21"/>
    </p:embeddedFont>
    <p:embeddedFont>
      <p:font typeface="Gilroy Medium" panose="020B0503050000020004" pitchFamily="34" charset="0"/>
      <p:regular r:id="rId22"/>
    </p:embeddedFont>
    <p:embeddedFont>
      <p:font typeface="Verdana" panose="020B0604030504040204" pitchFamily="34" charset="0"/>
      <p:regular r:id="rId22"/>
      <p:bold r:id="rId22"/>
      <p:italic r:id="rId22"/>
      <p:boldItalic r:id="rId2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85BE263C-DBD7-4A20-BB59-AAB30ACAA65A}" styleName="Средний стиль 3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Средний стиль 3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245" autoAdjust="0"/>
    <p:restoredTop sz="95652"/>
  </p:normalViewPr>
  <p:slideViewPr>
    <p:cSldViewPr snapToGrid="0">
      <p:cViewPr varScale="1">
        <p:scale>
          <a:sx n="90" d="100"/>
          <a:sy n="90" d="100"/>
        </p:scale>
        <p:origin x="240" y="4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9DC91-30C7-46AB-ADDB-A80A0533D77A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6BEC5-E5BF-4073-B59F-AF429BC83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94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584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3804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27864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789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88337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84469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24376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0787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61750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40301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93605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70817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49886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39528" y="4129238"/>
            <a:ext cx="10087276" cy="11285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097" y="5654764"/>
            <a:ext cx="2860213" cy="1632459"/>
          </a:xfrm>
          <a:prstGeom prst="rect">
            <a:avLst/>
          </a:prstGeom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cxnSp>
        <p:nvCxnSpPr>
          <p:cNvPr id="9" name="Прямая соединительная линия 8"/>
          <p:cNvCxnSpPr/>
          <p:nvPr userDrawn="1"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50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59430"/>
            <a:ext cx="10281557" cy="3649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D3C23-8038-4008-B24E-40A94D79456D}" type="datetime1">
              <a:rPr lang="ru-RU" smtClean="0"/>
              <a:t>02.05.2026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0171" y="5698671"/>
            <a:ext cx="1787979" cy="1047296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370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779" y="1286227"/>
            <a:ext cx="10087276" cy="215961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58779" y="4165953"/>
            <a:ext cx="10087276" cy="144557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427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9993084" y="5390016"/>
            <a:ext cx="1828800" cy="1331459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252357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3543300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DD92-CC98-4900-BE8A-2068547BBC1A}" type="datetime1">
              <a:rPr lang="ru-RU" smtClean="0"/>
              <a:t>02.05.2026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800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992085"/>
            <a:ext cx="420574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702379"/>
            <a:ext cx="420574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372100" y="1992085"/>
            <a:ext cx="432707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372100" y="2702379"/>
            <a:ext cx="432707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38898-160C-4747-9301-0B5702FA49D8}" type="datetime1">
              <a:rPr lang="ru-RU" smtClean="0"/>
              <a:t>02.05.2026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859383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367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B16F-DABE-4712-B47F-7722E1CB50FE}" type="datetime1">
              <a:rPr lang="ru-RU" smtClean="0"/>
              <a:t>02.05.2026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0327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EA22-9938-4273-8C60-D80B349E4BA9}" type="datetime1">
              <a:rPr lang="ru-RU" smtClean="0"/>
              <a:t>02.05.2026</a:t>
            </a:fld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701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66859" y="1281339"/>
            <a:ext cx="4898069" cy="45876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790B-F35A-4C90-BC4A-BA7F77964CA4}" type="datetime1">
              <a:rPr lang="ru-RU" smtClean="0"/>
              <a:t>02.05.2026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784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1273629"/>
            <a:ext cx="5823902" cy="41120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32831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EF080-AA0F-44FA-BA62-A56D8619F7E7}" type="datetime1">
              <a:rPr lang="ru-RU" smtClean="0"/>
              <a:t>02.05.2026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0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 title="0"/>
          <p:cNvSpPr>
            <a:spLocks noGrp="1" noChangeAspect="1"/>
          </p:cNvSpPr>
          <p:nvPr>
            <p:ph type="sldNum" sz="quarter" idx="4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algn="l">
              <a:defRPr sz="9600" b="0" i="0" baseline="0">
                <a:solidFill>
                  <a:schemeClr val="bg2">
                    <a:lumMod val="90000"/>
                  </a:schemeClr>
                </a:solidFill>
                <a:latin typeface="Gilroy Medium" panose="00000600000000000000" pitchFamily="2" charset="-52"/>
              </a:defRPr>
            </a:lvl1pPr>
          </a:lstStyle>
          <a:p>
            <a:fld id="{A01BE76D-E181-4177-862E-40D97C82BFEB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959429"/>
            <a:ext cx="10281557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B8CDF-4973-4195-91CA-18BA11F1D400}" type="datetime1">
              <a:rPr lang="ru-RU" smtClean="0"/>
              <a:t>02.05.2026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768" y="200819"/>
            <a:ext cx="1489158" cy="105319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 userDrawn="1"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66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ilroy Bold" panose="00000800000000000000" pitchFamily="2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D64222-1292-4A23-A829-4D7C56BB71FE}"/>
              </a:ext>
            </a:extLst>
          </p:cNvPr>
          <p:cNvSpPr txBox="1"/>
          <p:nvPr/>
        </p:nvSpPr>
        <p:spPr>
          <a:xfrm>
            <a:off x="4067954" y="771129"/>
            <a:ext cx="81240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b="1" dirty="0">
                <a:solidFill>
                  <a:prstClr val="black"/>
                </a:solidFill>
                <a:latin typeface="Gilroy Bold" panose="00000800000000000000" charset="-52"/>
              </a:rPr>
              <a:t>Реклама в интернете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Bold" panose="00000800000000000000" charset="-52"/>
              <a:ea typeface="+mn-ea"/>
              <a:cs typeface="+mn-cs"/>
            </a:endParaRPr>
          </a:p>
          <a:p>
            <a:pPr algn="ctr"/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  <a:p>
            <a:pPr algn="ctr"/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 </a:t>
            </a:r>
            <a:r>
              <a:rPr lang="ru-RU" sz="1800" dirty="0">
                <a:latin typeface="Gilroy Medium" panose="00000600000000000000" charset="-52"/>
              </a:rPr>
              <a:t>по направлению 09.03.01 Информатика и вычислительная техника</a:t>
            </a:r>
          </a:p>
          <a:p>
            <a:pPr algn="ctr"/>
            <a:r>
              <a:rPr lang="ru-RU" sz="1800" dirty="0">
                <a:latin typeface="Gilroy Medium" panose="00000600000000000000" charset="-52"/>
              </a:rPr>
              <a:t>Образовательная программа (профиль) «Веб-технологии»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AA36A-0422-46F0-BA3A-4B2EF754C329}"/>
              </a:ext>
            </a:extLst>
          </p:cNvPr>
          <p:cNvSpPr txBox="1"/>
          <p:nvPr/>
        </p:nvSpPr>
        <p:spPr>
          <a:xfrm>
            <a:off x="152400" y="2951946"/>
            <a:ext cx="11887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b="1" dirty="0">
                <a:solidFill>
                  <a:prstClr val="black"/>
                </a:solidFill>
                <a:latin typeface="Gilroy Bold" panose="00000800000000000000" charset="-52"/>
                <a:ea typeface="+mj-ea"/>
                <a:cs typeface="+mj-cs"/>
              </a:rPr>
              <a:t>Реклама в интернете</a:t>
            </a:r>
          </a:p>
          <a:p>
            <a:pPr algn="ctr"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j-ea"/>
                <a:cs typeface="+mj-cs"/>
              </a:rPr>
              <a:t>Лабораторная работа №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j-ea"/>
                <a:cs typeface="+mj-cs"/>
              </a:rPr>
              <a:t>3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18C808-D44B-4FFB-A9B8-91FA34E1C60F}"/>
              </a:ext>
            </a:extLst>
          </p:cNvPr>
          <p:cNvSpPr txBox="1"/>
          <p:nvPr/>
        </p:nvSpPr>
        <p:spPr>
          <a:xfrm>
            <a:off x="6454588" y="4207490"/>
            <a:ext cx="558501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Студенты: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Андронов Денис Андреевич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Волков Никита Игоревич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 err="1">
                <a:latin typeface="Arial" panose="020B0604020202020204" pitchFamily="34" charset="0"/>
                <a:cs typeface="Arial" panose="020B0604020202020204" pitchFamily="34" charset="0"/>
              </a:rPr>
              <a:t>Роганов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Михаил Романович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 err="1">
                <a:latin typeface="Arial" panose="020B0604020202020204" pitchFamily="34" charset="0"/>
                <a:cs typeface="Arial" panose="020B0604020202020204" pitchFamily="34" charset="0"/>
              </a:rPr>
              <a:t>Каргинов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Тамерлан </a:t>
            </a:r>
            <a:r>
              <a:rPr lang="ru-RU" sz="1800" dirty="0" err="1">
                <a:latin typeface="Arial" panose="020B0604020202020204" pitchFamily="34" charset="0"/>
                <a:cs typeface="Arial" panose="020B0604020202020204" pitchFamily="34" charset="0"/>
              </a:rPr>
              <a:t>Урузмагович</a:t>
            </a: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, группа 241-3210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Преподаватели: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Смирнова Ю.В.</a:t>
            </a:r>
            <a:r>
              <a:rPr lang="ru-RU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Кулибаба</a:t>
            </a:r>
            <a:r>
              <a:rPr lang="ru-RU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И.В.</a:t>
            </a: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E4B5EE-80E5-44C9-B29C-37CD3F69DA42}"/>
              </a:ext>
            </a:extLst>
          </p:cNvPr>
          <p:cNvSpPr txBox="1"/>
          <p:nvPr/>
        </p:nvSpPr>
        <p:spPr>
          <a:xfrm>
            <a:off x="4782071" y="6353372"/>
            <a:ext cx="22503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916414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2</a:t>
            </a:fld>
            <a:endParaRPr lang="ru-RU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201466" y="931083"/>
            <a:ext cx="8434457" cy="331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2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Цель работы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7A7A8B-6CD2-A64F-81C0-4905A4D0B2F0}"/>
              </a:ext>
            </a:extLst>
          </p:cNvPr>
          <p:cNvSpPr txBox="1"/>
          <p:nvPr/>
        </p:nvSpPr>
        <p:spPr>
          <a:xfrm>
            <a:off x="201466" y="1870308"/>
            <a:ext cx="90425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Изучение концепции «Скользкая горка» и психологических триггеров</a:t>
            </a:r>
            <a:br>
              <a:rPr lang="ru-RU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b="0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для усиления продающей способности текста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CBF004-F5C2-CA45-98B5-2D06C5023780}"/>
              </a:ext>
            </a:extLst>
          </p:cNvPr>
          <p:cNvSpPr txBox="1"/>
          <p:nvPr/>
        </p:nvSpPr>
        <p:spPr>
          <a:xfrm>
            <a:off x="201465" y="3508175"/>
            <a:ext cx="61364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0" i="0" dirty="0">
                <a:effectLst/>
              </a:rPr>
              <a:t>Создать текст, который:</a:t>
            </a:r>
          </a:p>
          <a:p>
            <a:pPr algn="l"/>
            <a:endParaRPr lang="ru-RU" b="0" i="0" dirty="0">
              <a:effectLst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u-RU" b="0" i="0" dirty="0">
                <a:effectLst/>
              </a:rPr>
              <a:t>удерживает внимание до конца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-RU" b="0" i="0" dirty="0">
                <a:effectLst/>
              </a:rPr>
              <a:t>побуждает читать дальше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-RU" b="0" i="0" dirty="0">
                <a:effectLst/>
              </a:rPr>
              <a:t>использует психологические триггеры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-RU" b="0" i="0" dirty="0">
                <a:effectLst/>
              </a:rPr>
              <a:t>содержит сильное УТП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C1F75E-D316-0949-B2F1-70A88FBFF2A0}"/>
              </a:ext>
            </a:extLst>
          </p:cNvPr>
          <p:cNvSpPr txBox="1"/>
          <p:nvPr/>
        </p:nvSpPr>
        <p:spPr>
          <a:xfrm>
            <a:off x="201465" y="2814534"/>
            <a:ext cx="8434457" cy="310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rPr>
              <a:t>А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rPr>
              <a:t> также:</a:t>
            </a:r>
          </a:p>
        </p:txBody>
      </p:sp>
    </p:spTree>
    <p:extLst>
      <p:ext uri="{BB962C8B-B14F-4D97-AF65-F5344CB8AC3E}">
        <p14:creationId xmlns:p14="http://schemas.microsoft.com/office/powerpoint/2010/main" val="3346767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3</a:t>
            </a:fld>
            <a:endParaRPr lang="ru-RU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201466" y="931083"/>
            <a:ext cx="8434457" cy="331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200" b="1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Скользкая горка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026" name="Picture 2" descr="Ещё 3 способа добиться эффекта «скользкой горки» | Бюро копирайтинга  Textbroker.ru">
            <a:extLst>
              <a:ext uri="{FF2B5EF4-FFF2-40B4-BE49-F238E27FC236}">
                <a16:creationId xmlns:a16="http://schemas.microsoft.com/office/drawing/2014/main" id="{574D3E9A-FED3-7E41-9687-E15D32721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8585" y="1949169"/>
            <a:ext cx="5056187" cy="3267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492DED3-23E6-4A42-A31E-89CC0596EA9B}"/>
              </a:ext>
            </a:extLst>
          </p:cNvPr>
          <p:cNvSpPr txBox="1"/>
          <p:nvPr/>
        </p:nvSpPr>
        <p:spPr>
          <a:xfrm>
            <a:off x="201466" y="1949169"/>
            <a:ext cx="608711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effectLst/>
              </a:rPr>
              <a:t>Концепция:</a:t>
            </a:r>
            <a:br>
              <a:rPr lang="ru-RU" b="0" i="0" dirty="0">
                <a:effectLst/>
              </a:rPr>
            </a:br>
            <a:r>
              <a:rPr lang="ru-RU" b="0" i="0" dirty="0">
                <a:effectLst/>
              </a:rPr>
              <a:t>каждое предложение должно заставлять читать следующее</a:t>
            </a:r>
          </a:p>
          <a:p>
            <a:pPr algn="l"/>
            <a:endParaRPr lang="ru-RU" b="0" i="0" dirty="0">
              <a:effectLst/>
            </a:endParaRPr>
          </a:p>
          <a:p>
            <a:pPr algn="l"/>
            <a:r>
              <a:rPr lang="ru-RU" b="1" i="0" dirty="0">
                <a:effectLst/>
              </a:rPr>
              <a:t>Цель:</a:t>
            </a:r>
            <a:br>
              <a:rPr lang="ru-RU" b="0" i="0" dirty="0">
                <a:effectLst/>
              </a:rPr>
            </a:br>
            <a:r>
              <a:rPr lang="ru-RU" b="0" i="0" dirty="0">
                <a:effectLst/>
              </a:rPr>
              <a:t>довести читателя до </a:t>
            </a:r>
            <a:r>
              <a:rPr lang="en" b="0" i="0" dirty="0">
                <a:effectLst/>
              </a:rPr>
              <a:t>CTA (</a:t>
            </a:r>
            <a:r>
              <a:rPr lang="ru-RU" b="0" i="0" dirty="0">
                <a:effectLst/>
              </a:rPr>
              <a:t>призыва к действию)</a:t>
            </a:r>
          </a:p>
          <a:p>
            <a:pPr algn="l"/>
            <a:endParaRPr lang="ru-RU" b="0" i="0" dirty="0">
              <a:effectLst/>
            </a:endParaRPr>
          </a:p>
          <a:p>
            <a:pPr algn="l"/>
            <a:r>
              <a:rPr lang="ru-RU" b="1" i="0" dirty="0">
                <a:effectLst/>
              </a:rPr>
              <a:t>Принцип:</a:t>
            </a:r>
            <a:br>
              <a:rPr lang="ru-RU" b="0" i="0" dirty="0">
                <a:effectLst/>
              </a:rPr>
            </a:br>
            <a:r>
              <a:rPr lang="ru-RU" b="0" i="0" dirty="0">
                <a:effectLst/>
              </a:rPr>
              <a:t>интерес → интрига → польза → результат → действие</a:t>
            </a:r>
          </a:p>
        </p:txBody>
      </p:sp>
    </p:spTree>
    <p:extLst>
      <p:ext uri="{BB962C8B-B14F-4D97-AF65-F5344CB8AC3E}">
        <p14:creationId xmlns:p14="http://schemas.microsoft.com/office/powerpoint/2010/main" val="2951194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3492DED3-23E6-4A42-A31E-89CC0596EA9B}"/>
              </a:ext>
            </a:extLst>
          </p:cNvPr>
          <p:cNvSpPr txBox="1"/>
          <p:nvPr/>
        </p:nvSpPr>
        <p:spPr>
          <a:xfrm>
            <a:off x="201466" y="1949169"/>
            <a:ext cx="608711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effectLst/>
              </a:rPr>
              <a:t>Триггеры</a:t>
            </a:r>
            <a:r>
              <a:rPr lang="ru-RU" b="0" i="0" dirty="0">
                <a:effectLst/>
              </a:rPr>
              <a:t> — это элементы, усиливающие воздействие текста</a:t>
            </a:r>
          </a:p>
          <a:p>
            <a:pPr algn="l"/>
            <a:endParaRPr lang="ru-RU" b="0" i="0" dirty="0">
              <a:effectLst/>
            </a:endParaRPr>
          </a:p>
          <a:p>
            <a:pPr algn="l"/>
            <a:r>
              <a:rPr lang="ru-RU" b="1" i="0" dirty="0">
                <a:effectLst/>
              </a:rPr>
              <a:t>Примеры:</a:t>
            </a:r>
          </a:p>
          <a:p>
            <a:pPr algn="l"/>
            <a:endParaRPr lang="ru-RU" b="1" i="0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социальное доказательство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взаимный обмен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результат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узнавание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закон наименьших усилий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4</a:t>
            </a:fld>
            <a:endParaRPr lang="ru-RU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201466" y="931083"/>
            <a:ext cx="8434457" cy="331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Психологические триггеры</a:t>
            </a:r>
          </a:p>
        </p:txBody>
      </p:sp>
    </p:spTree>
    <p:extLst>
      <p:ext uri="{BB962C8B-B14F-4D97-AF65-F5344CB8AC3E}">
        <p14:creationId xmlns:p14="http://schemas.microsoft.com/office/powerpoint/2010/main" val="4247895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5</a:t>
            </a:fld>
            <a:endParaRPr lang="ru-RU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201466" y="931083"/>
            <a:ext cx="8434457" cy="331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200" b="1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УТП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C14EEF-654C-CE4C-8A3A-66EDEC342848}"/>
              </a:ext>
            </a:extLst>
          </p:cNvPr>
          <p:cNvSpPr txBox="1"/>
          <p:nvPr/>
        </p:nvSpPr>
        <p:spPr>
          <a:xfrm>
            <a:off x="201466" y="1748523"/>
            <a:ext cx="6136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УТП</a:t>
            </a:r>
            <a:r>
              <a:rPr lang="ru-RU" b="0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b="0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</a:t>
            </a:r>
            <a:r>
              <a:rPr lang="ru-RU" b="0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уникальное торговое предложение,</a:t>
            </a:r>
            <a:br>
              <a:rPr lang="ru-RU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b="0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которое отличает продукт от конкурентов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B407AB-2EEE-384D-84A9-12C114730DF9}"/>
              </a:ext>
            </a:extLst>
          </p:cNvPr>
          <p:cNvSpPr txBox="1"/>
          <p:nvPr/>
        </p:nvSpPr>
        <p:spPr>
          <a:xfrm>
            <a:off x="201466" y="3177093"/>
            <a:ext cx="734233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2000" b="1" dirty="0"/>
              <a:t>Разговорный английский с первого занятия</a:t>
            </a:r>
            <a:endParaRPr lang="en-US" sz="2000" b="1" dirty="0"/>
          </a:p>
          <a:p>
            <a:pPr marL="342900" indent="-342900">
              <a:buFont typeface="+mj-lt"/>
              <a:buAutoNum type="arabicPeriod"/>
            </a:pPr>
            <a:r>
              <a:rPr lang="ru-RU" sz="2000" b="1" dirty="0"/>
              <a:t>Индивидуальная программа обучения</a:t>
            </a:r>
            <a:endParaRPr lang="en-US" sz="2000" b="1" dirty="0"/>
          </a:p>
          <a:p>
            <a:pPr marL="342900" indent="-342900">
              <a:buFont typeface="+mj-lt"/>
              <a:buAutoNum type="arabicPeriod"/>
            </a:pPr>
            <a:r>
              <a:rPr lang="ru-RU" sz="2000" b="1" dirty="0"/>
              <a:t>Преподаватели уровня </a:t>
            </a:r>
            <a:r>
              <a:rPr lang="en" sz="2000" b="1" dirty="0"/>
              <a:t>C1–C2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000" b="1" dirty="0"/>
              <a:t>Гибкий график</a:t>
            </a:r>
            <a:endParaRPr lang="en-US" sz="2000" b="1" dirty="0"/>
          </a:p>
          <a:p>
            <a:pPr marL="342900" indent="-342900">
              <a:buFont typeface="+mj-lt"/>
              <a:buAutoNum type="arabicPeriod"/>
            </a:pPr>
            <a:r>
              <a:rPr lang="ru-RU" sz="2000" b="1" dirty="0"/>
              <a:t>Бесплатное пробное занятие</a:t>
            </a:r>
          </a:p>
        </p:txBody>
      </p:sp>
    </p:spTree>
    <p:extLst>
      <p:ext uri="{BB962C8B-B14F-4D97-AF65-F5344CB8AC3E}">
        <p14:creationId xmlns:p14="http://schemas.microsoft.com/office/powerpoint/2010/main" val="4132776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6</a:t>
            </a:fld>
            <a:endParaRPr lang="ru-RU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201466" y="931083"/>
            <a:ext cx="8434457" cy="331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200" b="1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Шаблон текста №1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A72406-7830-994C-8836-651882EEA860}"/>
              </a:ext>
            </a:extLst>
          </p:cNvPr>
          <p:cNvSpPr txBox="1"/>
          <p:nvPr/>
        </p:nvSpPr>
        <p:spPr>
          <a:xfrm>
            <a:off x="201466" y="2046238"/>
            <a:ext cx="368473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000" b="1" i="0" dirty="0">
                <a:effectLst/>
              </a:rPr>
              <a:t>Продающий текст:</a:t>
            </a:r>
            <a:endParaRPr lang="en-US" sz="2000" b="1" i="0" dirty="0">
              <a:effectLst/>
            </a:endParaRPr>
          </a:p>
          <a:p>
            <a:pPr algn="l"/>
            <a:endParaRPr lang="ru-RU" sz="2000" b="1" i="0" dirty="0">
              <a:effectLst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ru-RU" sz="2000" i="0" dirty="0">
                <a:effectLst/>
              </a:rPr>
              <a:t>проблема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000" i="0" dirty="0">
                <a:effectLst/>
              </a:rPr>
              <a:t>недостатки решений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000" i="0" dirty="0">
                <a:effectLst/>
              </a:rPr>
              <a:t>продукт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000" i="0" dirty="0">
                <a:effectLst/>
              </a:rPr>
              <a:t>УТП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000" i="0" dirty="0">
                <a:effectLst/>
              </a:rPr>
              <a:t>цифры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000" i="0" dirty="0" err="1">
                <a:effectLst/>
              </a:rPr>
              <a:t>оффер</a:t>
            </a:r>
            <a:endParaRPr lang="ru-RU" sz="2000" i="0" dirty="0">
              <a:effectLst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" sz="2000" i="0" dirty="0">
                <a:effectLst/>
              </a:rPr>
              <a:t>CTA</a:t>
            </a:r>
          </a:p>
        </p:txBody>
      </p:sp>
    </p:spTree>
    <p:extLst>
      <p:ext uri="{BB962C8B-B14F-4D97-AF65-F5344CB8AC3E}">
        <p14:creationId xmlns:p14="http://schemas.microsoft.com/office/powerpoint/2010/main" val="1244470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7</a:t>
            </a:fld>
            <a:endParaRPr lang="ru-RU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201466" y="931083"/>
            <a:ext cx="8434457" cy="331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200" b="1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Текст №1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6C4A39-74C7-1442-BDF3-8820706E2F89}"/>
              </a:ext>
            </a:extLst>
          </p:cNvPr>
          <p:cNvSpPr txBox="1"/>
          <p:nvPr/>
        </p:nvSpPr>
        <p:spPr>
          <a:xfrm>
            <a:off x="201466" y="1674674"/>
            <a:ext cx="1031413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0" i="0" dirty="0">
                <a:effectLst/>
              </a:rPr>
              <a:t>Вы учили английский, но не можете говорить?</a:t>
            </a:r>
          </a:p>
          <a:p>
            <a:pPr algn="l"/>
            <a:r>
              <a:rPr lang="ru-RU" b="0" i="0" dirty="0">
                <a:effectLst/>
              </a:rPr>
              <a:t>Групповые курсы не учитывают уровень,</a:t>
            </a:r>
            <a:br>
              <a:rPr lang="ru-RU" b="0" i="0" dirty="0">
                <a:effectLst/>
              </a:rPr>
            </a:br>
            <a:r>
              <a:rPr lang="ru-RU" b="0" i="0" dirty="0">
                <a:effectLst/>
              </a:rPr>
              <a:t>самообучение не дает практики,</a:t>
            </a:r>
            <a:br>
              <a:rPr lang="ru-RU" b="0" i="0" dirty="0">
                <a:effectLst/>
              </a:rPr>
            </a:br>
            <a:r>
              <a:rPr lang="ru-RU" b="0" i="0" dirty="0">
                <a:effectLst/>
              </a:rPr>
              <a:t>теория не превращается в навык.</a:t>
            </a:r>
          </a:p>
          <a:p>
            <a:pPr algn="l"/>
            <a:r>
              <a:rPr lang="ru-RU" b="0" i="0" dirty="0">
                <a:effectLst/>
              </a:rPr>
              <a:t>Наша школа решает эту проблему через практику.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4D3057-EEA3-B640-BBD6-22E8F36B6670}"/>
              </a:ext>
            </a:extLst>
          </p:cNvPr>
          <p:cNvSpPr txBox="1"/>
          <p:nvPr/>
        </p:nvSpPr>
        <p:spPr>
          <a:xfrm>
            <a:off x="201465" y="3429000"/>
            <a:ext cx="685655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0" i="0" dirty="0">
                <a:effectLst/>
              </a:rPr>
              <a:t>Индивидуальная программа</a:t>
            </a:r>
            <a:br>
              <a:rPr lang="ru-RU" b="0" i="0" dirty="0">
                <a:effectLst/>
              </a:rPr>
            </a:br>
            <a:r>
              <a:rPr lang="ru-RU" b="0" i="0" dirty="0">
                <a:effectLst/>
              </a:rPr>
              <a:t>Преподаватели </a:t>
            </a:r>
            <a:r>
              <a:rPr lang="en" b="0" i="0" dirty="0">
                <a:effectLst/>
              </a:rPr>
              <a:t>C1–C2</a:t>
            </a:r>
          </a:p>
          <a:p>
            <a:pPr algn="l"/>
            <a:r>
              <a:rPr lang="en" b="0" i="0" dirty="0">
                <a:effectLst/>
              </a:rPr>
              <a:t>90% </a:t>
            </a:r>
            <a:r>
              <a:rPr lang="ru-RU" b="0" i="0" dirty="0">
                <a:effectLst/>
              </a:rPr>
              <a:t>учеников начинают говорить через 2–3 месяца</a:t>
            </a:r>
          </a:p>
          <a:p>
            <a:pPr algn="l"/>
            <a:r>
              <a:rPr lang="ru-RU" b="0" i="0" dirty="0">
                <a:effectLst/>
              </a:rPr>
              <a:t>Бесплатное занятие</a:t>
            </a:r>
          </a:p>
          <a:p>
            <a:pPr algn="l"/>
            <a:r>
              <a:rPr lang="en" b="1" i="0" dirty="0">
                <a:effectLst/>
              </a:rPr>
              <a:t>CTA:</a:t>
            </a:r>
            <a:r>
              <a:rPr lang="en" b="0" i="0" dirty="0">
                <a:effectLst/>
              </a:rPr>
              <a:t> </a:t>
            </a:r>
            <a:r>
              <a:rPr lang="ru-RU" b="0" i="0" dirty="0">
                <a:effectLst/>
              </a:rPr>
              <a:t>Запишитесь сейчас</a:t>
            </a:r>
          </a:p>
        </p:txBody>
      </p:sp>
    </p:spTree>
    <p:extLst>
      <p:ext uri="{BB962C8B-B14F-4D97-AF65-F5344CB8AC3E}">
        <p14:creationId xmlns:p14="http://schemas.microsoft.com/office/powerpoint/2010/main" val="564123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8</a:t>
            </a:fld>
            <a:endParaRPr lang="ru-RU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201466" y="931083"/>
            <a:ext cx="8434457" cy="331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200" b="1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Текст №1: триггеры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9CC6B7-6B17-044C-8079-214776BA57C1}"/>
              </a:ext>
            </a:extLst>
          </p:cNvPr>
          <p:cNvSpPr txBox="1"/>
          <p:nvPr/>
        </p:nvSpPr>
        <p:spPr>
          <a:xfrm>
            <a:off x="201466" y="1719948"/>
            <a:ext cx="61364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Узнавание</a:t>
            </a:r>
          </a:p>
          <a:p>
            <a:r>
              <a:rPr lang="ru-RU" dirty="0"/>
              <a:t>Социальное доказательство</a:t>
            </a:r>
          </a:p>
          <a:p>
            <a:r>
              <a:rPr lang="ru-RU" dirty="0"/>
              <a:t>Взаимный обмен</a:t>
            </a:r>
          </a:p>
          <a:p>
            <a:r>
              <a:rPr lang="ru-RU" dirty="0"/>
              <a:t>Результат</a:t>
            </a:r>
          </a:p>
          <a:p>
            <a:r>
              <a:rPr lang="ru-RU" dirty="0"/>
              <a:t>Закон наименьших усилий</a:t>
            </a:r>
          </a:p>
        </p:txBody>
      </p:sp>
    </p:spTree>
    <p:extLst>
      <p:ext uri="{BB962C8B-B14F-4D97-AF65-F5344CB8AC3E}">
        <p14:creationId xmlns:p14="http://schemas.microsoft.com/office/powerpoint/2010/main" val="2203391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9</a:t>
            </a:fld>
            <a:endParaRPr lang="ru-RU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201466" y="931083"/>
            <a:ext cx="8434457" cy="331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200" b="1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Шаблон текста №2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A72406-7830-994C-8836-651882EEA860}"/>
              </a:ext>
            </a:extLst>
          </p:cNvPr>
          <p:cNvSpPr txBox="1"/>
          <p:nvPr/>
        </p:nvSpPr>
        <p:spPr>
          <a:xfrm>
            <a:off x="201466" y="2046238"/>
            <a:ext cx="368473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000" b="1" i="0" dirty="0">
                <a:effectLst/>
              </a:rPr>
              <a:t>Мастер-класс:</a:t>
            </a:r>
          </a:p>
          <a:p>
            <a:pPr algn="l"/>
            <a:endParaRPr lang="ru-RU" sz="2000" b="1" i="0" dirty="0">
              <a:effectLst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ru-RU" sz="2000" b="0" i="0" dirty="0">
                <a:effectLst/>
              </a:rPr>
              <a:t>проблема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000" b="0" i="0" dirty="0">
                <a:effectLst/>
              </a:rPr>
              <a:t>текущее решение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000" b="0" i="0" dirty="0">
                <a:effectLst/>
              </a:rPr>
              <a:t>недостатки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000" b="0" i="0" dirty="0">
                <a:effectLst/>
              </a:rPr>
              <a:t>шаги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000" b="0" i="0" dirty="0">
                <a:effectLst/>
              </a:rPr>
              <a:t>сложности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" sz="2000" b="0" i="0" dirty="0">
                <a:effectLst/>
              </a:rPr>
              <a:t>CTA</a:t>
            </a:r>
          </a:p>
          <a:p>
            <a:pPr algn="l"/>
            <a:endParaRPr lang="en" sz="200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37870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10</a:t>
            </a:fld>
            <a:endParaRPr lang="ru-RU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201466" y="931083"/>
            <a:ext cx="8434457" cy="331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200" b="1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Текст №2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981ED4-CC1D-A640-AEE0-18B797203BD1}"/>
              </a:ext>
            </a:extLst>
          </p:cNvPr>
          <p:cNvSpPr txBox="1"/>
          <p:nvPr/>
        </p:nvSpPr>
        <p:spPr>
          <a:xfrm>
            <a:off x="201465" y="1742696"/>
            <a:ext cx="1182860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600" b="1" i="0" dirty="0">
                <a:effectLst/>
              </a:rPr>
              <a:t>Проблематика</a:t>
            </a:r>
            <a:br>
              <a:rPr lang="ru-RU" sz="1600" b="0" i="0" dirty="0">
                <a:effectLst/>
              </a:rPr>
            </a:br>
            <a:r>
              <a:rPr lang="ru-RU" sz="1600" b="0" i="0" dirty="0">
                <a:effectLst/>
              </a:rPr>
              <a:t>Вы учите английский уже долгое время, знаете слова и правила, но в реальной ситуации не можете свободно говорить и теряетесь при общении.</a:t>
            </a:r>
          </a:p>
          <a:p>
            <a:pPr algn="l"/>
            <a:r>
              <a:rPr lang="ru-RU" sz="1600" b="1" i="0" dirty="0">
                <a:effectLst/>
              </a:rPr>
              <a:t>Как решают обычно</a:t>
            </a:r>
            <a:br>
              <a:rPr lang="ru-RU" sz="1600" b="0" i="0" dirty="0">
                <a:effectLst/>
              </a:rPr>
            </a:br>
            <a:r>
              <a:rPr lang="ru-RU" sz="1600" b="0" i="0" dirty="0">
                <a:effectLst/>
              </a:rPr>
              <a:t>Большинство курсов делают упор на теорию, грамматику и запоминание слов, практически не давая живой разговорной практики.</a:t>
            </a:r>
          </a:p>
          <a:p>
            <a:pPr algn="l"/>
            <a:r>
              <a:rPr lang="ru-RU" sz="1600" b="1" i="0" dirty="0">
                <a:effectLst/>
              </a:rPr>
              <a:t>Чего не хватает</a:t>
            </a:r>
            <a:br>
              <a:rPr lang="ru-RU" sz="1600" b="0" i="0" dirty="0">
                <a:effectLst/>
              </a:rPr>
            </a:br>
            <a:r>
              <a:rPr lang="ru-RU" sz="1600" b="0" i="0" dirty="0">
                <a:effectLst/>
              </a:rPr>
              <a:t>Без постоянной практики общения язык остается пассивным и не используется в жизни.</a:t>
            </a:r>
            <a:br>
              <a:rPr lang="ru-RU" sz="1600" b="0" i="0" dirty="0">
                <a:effectLst/>
              </a:rPr>
            </a:br>
            <a:r>
              <a:rPr lang="ru-RU" sz="1600" b="0" i="1" dirty="0">
                <a:effectLst/>
              </a:rPr>
              <a:t>(Триггер: Ценность через отсутствие)</a:t>
            </a:r>
            <a:endParaRPr lang="ru-RU" sz="1600" b="0" i="0" dirty="0">
              <a:effectLst/>
            </a:endParaRPr>
          </a:p>
          <a:p>
            <a:pPr algn="l"/>
            <a:r>
              <a:rPr lang="ru-RU" sz="1600" b="1" i="0" dirty="0">
                <a:effectLst/>
              </a:rPr>
              <a:t>Шаг 1</a:t>
            </a:r>
            <a:br>
              <a:rPr lang="ru-RU" sz="1600" b="0" i="0" dirty="0">
                <a:effectLst/>
              </a:rPr>
            </a:br>
            <a:r>
              <a:rPr lang="ru-RU" sz="1600" b="0" i="0" dirty="0">
                <a:effectLst/>
              </a:rPr>
              <a:t>Определите цель обучения: работа, переезд, путешествия или экзамен.</a:t>
            </a:r>
            <a:br>
              <a:rPr lang="ru-RU" sz="1600" b="0" i="0" dirty="0">
                <a:effectLst/>
              </a:rPr>
            </a:br>
            <a:r>
              <a:rPr lang="ru-RU" sz="1600" b="0" i="1" dirty="0">
                <a:effectLst/>
              </a:rPr>
              <a:t>(Триггер: Помощь в принятии решения)</a:t>
            </a:r>
            <a:endParaRPr lang="ru-RU" sz="1600" b="0" i="0" dirty="0">
              <a:effectLst/>
            </a:endParaRPr>
          </a:p>
          <a:p>
            <a:pPr algn="l"/>
            <a:r>
              <a:rPr lang="ru-RU" sz="1600" b="1" i="0" dirty="0">
                <a:effectLst/>
              </a:rPr>
              <a:t>Шаг 2</a:t>
            </a:r>
            <a:br>
              <a:rPr lang="ru-RU" sz="1600" b="0" i="0" dirty="0">
                <a:effectLst/>
              </a:rPr>
            </a:br>
            <a:r>
              <a:rPr lang="ru-RU" sz="1600" b="0" i="0" dirty="0">
                <a:effectLst/>
              </a:rPr>
              <a:t>Начните говорить с первого занятия, даже с минимальным уровнем знаний.</a:t>
            </a:r>
            <a:br>
              <a:rPr lang="ru-RU" sz="1600" b="0" i="0" dirty="0">
                <a:effectLst/>
              </a:rPr>
            </a:br>
            <a:r>
              <a:rPr lang="ru-RU" sz="1600" b="0" i="1" dirty="0">
                <a:effectLst/>
              </a:rPr>
              <a:t>(УТП: разговорная практика с первого урока)</a:t>
            </a:r>
            <a:endParaRPr lang="ru-RU" sz="1600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16681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11</a:t>
            </a:fld>
            <a:endParaRPr lang="ru-RU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201466" y="931083"/>
            <a:ext cx="8434457" cy="331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200" b="1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Текст №2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BA943B-C8EC-BD43-8FB2-80A52B606D76}"/>
              </a:ext>
            </a:extLst>
          </p:cNvPr>
          <p:cNvSpPr txBox="1"/>
          <p:nvPr/>
        </p:nvSpPr>
        <p:spPr>
          <a:xfrm>
            <a:off x="201466" y="1416419"/>
            <a:ext cx="11725484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600" b="1" i="0" dirty="0">
                <a:effectLst/>
              </a:rPr>
              <a:t>Шаг 3</a:t>
            </a:r>
            <a:br>
              <a:rPr lang="ru-RU" sz="1600" b="0" i="0" dirty="0">
                <a:effectLst/>
              </a:rPr>
            </a:br>
            <a:r>
              <a:rPr lang="ru-RU" sz="1600" b="0" i="0" dirty="0">
                <a:effectLst/>
              </a:rPr>
              <a:t>Обучайтесь по персональной программе, адаптированной под ваш уровень и цели.</a:t>
            </a:r>
            <a:br>
              <a:rPr lang="ru-RU" sz="1600" b="0" i="0" dirty="0">
                <a:effectLst/>
              </a:rPr>
            </a:br>
            <a:r>
              <a:rPr lang="ru-RU" sz="1600" b="0" i="1" dirty="0">
                <a:effectLst/>
              </a:rPr>
              <a:t>(УТП: индивидуальный подход)</a:t>
            </a:r>
            <a:endParaRPr lang="ru-RU" sz="1600" b="0" i="0" dirty="0">
              <a:effectLst/>
            </a:endParaRPr>
          </a:p>
          <a:p>
            <a:pPr algn="l"/>
            <a:r>
              <a:rPr lang="ru-RU" sz="1600" b="1" i="0" dirty="0">
                <a:effectLst/>
              </a:rPr>
              <a:t>Шаг 4</a:t>
            </a:r>
            <a:br>
              <a:rPr lang="ru-RU" sz="1600" b="0" i="0" dirty="0">
                <a:effectLst/>
              </a:rPr>
            </a:br>
            <a:r>
              <a:rPr lang="ru-RU" sz="1600" b="0" i="0" dirty="0">
                <a:effectLst/>
              </a:rPr>
              <a:t>Регулярно занимайтесь с преподавателем, который корректирует ошибки и направляет вас.</a:t>
            </a:r>
            <a:br>
              <a:rPr lang="ru-RU" sz="1600" b="0" i="0" dirty="0">
                <a:effectLst/>
              </a:rPr>
            </a:br>
            <a:r>
              <a:rPr lang="ru-RU" sz="1600" b="0" i="1" dirty="0">
                <a:effectLst/>
              </a:rPr>
              <a:t>(Триггер: Подтверждение авторитетом)</a:t>
            </a:r>
            <a:endParaRPr lang="ru-RU" sz="1600" b="0" i="0" dirty="0">
              <a:effectLst/>
            </a:endParaRPr>
          </a:p>
          <a:p>
            <a:pPr algn="l"/>
            <a:r>
              <a:rPr lang="ru-RU" sz="1600" b="1" i="0" dirty="0">
                <a:effectLst/>
              </a:rPr>
              <a:t>Возможные сложности</a:t>
            </a:r>
            <a:br>
              <a:rPr lang="ru-RU" sz="1600" b="0" i="0" dirty="0">
                <a:effectLst/>
              </a:rPr>
            </a:br>
            <a:r>
              <a:rPr lang="ru-RU" sz="1600" b="0" i="0" dirty="0">
                <a:effectLst/>
              </a:rPr>
              <a:t>На первых этапах вы будете делать ошибки — это естественная часть обучения и прогресса.</a:t>
            </a:r>
            <a:br>
              <a:rPr lang="ru-RU" sz="1600" b="0" i="0" dirty="0">
                <a:effectLst/>
              </a:rPr>
            </a:br>
            <a:r>
              <a:rPr lang="ru-RU" sz="1600" b="0" i="1" dirty="0">
                <a:effectLst/>
              </a:rPr>
              <a:t>(Триггер: Разделение проблем)</a:t>
            </a:r>
            <a:endParaRPr lang="ru-RU" sz="1600" b="0" i="0" dirty="0">
              <a:effectLst/>
            </a:endParaRPr>
          </a:p>
          <a:p>
            <a:pPr algn="l"/>
            <a:r>
              <a:rPr lang="ru-RU" sz="1600" b="1" i="0" dirty="0">
                <a:effectLst/>
              </a:rPr>
              <a:t>Результат</a:t>
            </a:r>
            <a:br>
              <a:rPr lang="ru-RU" sz="1600" b="0" i="0" dirty="0">
                <a:effectLst/>
              </a:rPr>
            </a:br>
            <a:r>
              <a:rPr lang="ru-RU" sz="1600" b="0" i="0" dirty="0">
                <a:effectLst/>
              </a:rPr>
              <a:t>Уже через несколько недель вы начнете понимать речь и отвечать, а через несколько месяцев сможете уверенно общаться на английском.</a:t>
            </a:r>
            <a:br>
              <a:rPr lang="ru-RU" sz="1600" b="0" i="0" dirty="0">
                <a:effectLst/>
              </a:rPr>
            </a:br>
            <a:r>
              <a:rPr lang="ru-RU" sz="1600" b="0" i="1" dirty="0">
                <a:effectLst/>
              </a:rPr>
              <a:t>(Триггер: Результат)</a:t>
            </a:r>
            <a:endParaRPr lang="ru-RU" sz="1600" b="0" i="0" dirty="0">
              <a:effectLst/>
            </a:endParaRPr>
          </a:p>
          <a:p>
            <a:pPr algn="l"/>
            <a:r>
              <a:rPr lang="ru-RU" sz="1600" b="1" i="0" dirty="0" err="1">
                <a:effectLst/>
              </a:rPr>
              <a:t>Оффер</a:t>
            </a:r>
            <a:br>
              <a:rPr lang="ru-RU" sz="1600" b="0" i="0" dirty="0">
                <a:effectLst/>
              </a:rPr>
            </a:br>
            <a:r>
              <a:rPr lang="ru-RU" sz="1600" b="0" i="0" dirty="0">
                <a:effectLst/>
              </a:rPr>
              <a:t>Первое занятие бесплатно + персональный план обучения.</a:t>
            </a:r>
            <a:br>
              <a:rPr lang="ru-RU" sz="1600" b="0" i="0" dirty="0">
                <a:effectLst/>
              </a:rPr>
            </a:br>
            <a:r>
              <a:rPr lang="ru-RU" sz="1600" b="0" i="1" dirty="0">
                <a:effectLst/>
              </a:rPr>
              <a:t>(Триггер: Взаимный обмен)</a:t>
            </a:r>
            <a:endParaRPr lang="ru-RU" sz="1600" b="0" i="0" dirty="0">
              <a:effectLst/>
            </a:endParaRPr>
          </a:p>
          <a:p>
            <a:pPr algn="l"/>
            <a:r>
              <a:rPr lang="en" sz="1600" b="1" i="0" dirty="0">
                <a:effectLst/>
              </a:rPr>
              <a:t>CTA (</a:t>
            </a:r>
            <a:r>
              <a:rPr lang="ru-RU" sz="1600" b="1" i="0" dirty="0">
                <a:effectLst/>
              </a:rPr>
              <a:t>призыв к действию)</a:t>
            </a:r>
            <a:br>
              <a:rPr lang="ru-RU" sz="1600" b="0" i="0" dirty="0">
                <a:effectLst/>
              </a:rPr>
            </a:br>
            <a:r>
              <a:rPr lang="ru-RU" sz="1600" b="0" i="0" dirty="0">
                <a:effectLst/>
              </a:rPr>
              <a:t>Запишитесь на бесплатное занятие прямо сейчас и начните говорить на английском уже на этой неделе.</a:t>
            </a:r>
            <a:br>
              <a:rPr lang="ru-RU" sz="1600" b="0" i="0" dirty="0">
                <a:effectLst/>
              </a:rPr>
            </a:br>
            <a:r>
              <a:rPr lang="ru-RU" sz="1600" b="0" i="1" dirty="0">
                <a:effectLst/>
              </a:rPr>
              <a:t>(Триггер: Закон наименьших усилий)</a:t>
            </a:r>
            <a:endParaRPr lang="ru-RU" sz="1600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16194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12</a:t>
            </a:fld>
            <a:endParaRPr lang="ru-RU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201466" y="931083"/>
            <a:ext cx="8434457" cy="331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200" b="1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Текст №2: триггеры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CAFF72-0982-9D46-91F0-4F5739291A5E}"/>
              </a:ext>
            </a:extLst>
          </p:cNvPr>
          <p:cNvSpPr txBox="1"/>
          <p:nvPr/>
        </p:nvSpPr>
        <p:spPr>
          <a:xfrm>
            <a:off x="201466" y="1810047"/>
            <a:ext cx="61364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Разделение проблем</a:t>
            </a:r>
          </a:p>
          <a:p>
            <a:r>
              <a:rPr lang="ru-RU" dirty="0"/>
              <a:t>Помощь в принятии решения</a:t>
            </a:r>
          </a:p>
          <a:p>
            <a:r>
              <a:rPr lang="ru-RU" dirty="0"/>
              <a:t>Закон наименьших усилий</a:t>
            </a:r>
          </a:p>
          <a:p>
            <a:r>
              <a:rPr lang="ru-RU" dirty="0"/>
              <a:t>Взаимный обмен</a:t>
            </a:r>
          </a:p>
          <a:p>
            <a:r>
              <a:rPr lang="ru-RU" dirty="0"/>
              <a:t>Прицельные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2928836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13</a:t>
            </a:fld>
            <a:endParaRPr lang="ru-RU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201466" y="931083"/>
            <a:ext cx="8434457" cy="331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200" b="1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Вывод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CAFF72-0982-9D46-91F0-4F5739291A5E}"/>
              </a:ext>
            </a:extLst>
          </p:cNvPr>
          <p:cNvSpPr txBox="1"/>
          <p:nvPr/>
        </p:nvSpPr>
        <p:spPr>
          <a:xfrm>
            <a:off x="201466" y="2193474"/>
            <a:ext cx="1056112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000" b="1" i="0" dirty="0">
                <a:effectLst/>
              </a:rPr>
              <a:t>«Скользкая горка» </a:t>
            </a:r>
            <a:r>
              <a:rPr lang="ru-RU" sz="2000" b="0" i="0" dirty="0">
                <a:effectLst/>
              </a:rPr>
              <a:t>удерживает внимание</a:t>
            </a:r>
            <a:br>
              <a:rPr lang="ru-RU" sz="2000" b="0" i="0" dirty="0">
                <a:effectLst/>
              </a:rPr>
            </a:br>
            <a:r>
              <a:rPr lang="ru-RU" sz="2000" b="1" i="0" dirty="0">
                <a:effectLst/>
              </a:rPr>
              <a:t>Триггеры</a:t>
            </a:r>
            <a:r>
              <a:rPr lang="ru-RU" sz="2000" b="0" i="0" dirty="0">
                <a:effectLst/>
              </a:rPr>
              <a:t> усиливают воздействие</a:t>
            </a:r>
            <a:br>
              <a:rPr lang="ru-RU" sz="2000" b="0" i="0" dirty="0">
                <a:effectLst/>
              </a:rPr>
            </a:br>
            <a:r>
              <a:rPr lang="ru-RU" sz="2000" b="1" i="0" dirty="0">
                <a:effectLst/>
              </a:rPr>
              <a:t>УТП</a:t>
            </a:r>
            <a:r>
              <a:rPr lang="ru-RU" sz="2000" b="0" i="0" dirty="0">
                <a:effectLst/>
              </a:rPr>
              <a:t> выделяет продукт</a:t>
            </a:r>
          </a:p>
          <a:p>
            <a:pPr algn="l"/>
            <a:endParaRPr lang="ru-RU" sz="2000" b="0" i="0" dirty="0">
              <a:effectLst/>
            </a:endParaRPr>
          </a:p>
          <a:p>
            <a:pPr algn="l"/>
            <a:r>
              <a:rPr lang="ru-RU" sz="2000" b="0" i="0" dirty="0">
                <a:effectLst/>
              </a:rPr>
              <a:t>Их совместное использование повышает эффективность текста</a:t>
            </a:r>
          </a:p>
        </p:txBody>
      </p:sp>
    </p:spTree>
    <p:extLst>
      <p:ext uri="{BB962C8B-B14F-4D97-AF65-F5344CB8AC3E}">
        <p14:creationId xmlns:p14="http://schemas.microsoft.com/office/powerpoint/2010/main" val="3422936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9" name="Google Shape;139;p8"/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w="9525" cap="flat" cmpd="sng">
            <a:solidFill>
              <a:srgbClr val="FBFF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0" name="Google Shape;140;p8"/>
          <p:cNvSpPr txBox="1"/>
          <p:nvPr/>
        </p:nvSpPr>
        <p:spPr>
          <a:xfrm>
            <a:off x="4721568" y="6454765"/>
            <a:ext cx="230576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1434420" y="2951946"/>
            <a:ext cx="965487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-RU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Спасибо за внимание!</a:t>
            </a:r>
            <a:endParaRPr dirty="0"/>
          </a:p>
        </p:txBody>
      </p:sp>
      <p:sp>
        <p:nvSpPr>
          <p:cNvPr id="142" name="Google Shape;142;p8"/>
          <p:cNvSpPr txBox="1"/>
          <p:nvPr/>
        </p:nvSpPr>
        <p:spPr>
          <a:xfrm>
            <a:off x="4274728" y="713847"/>
            <a:ext cx="81240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/>
              <a:t>Реклама в Интернет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 направлению 09.03.01 Информатика и вычислительная техника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Образовательная программа (профиль) «Веб-технологии»</a:t>
            </a: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4F5034-139C-0D40-B099-E0B7422C96EF}"/>
              </a:ext>
            </a:extLst>
          </p:cNvPr>
          <p:cNvSpPr txBox="1"/>
          <p:nvPr/>
        </p:nvSpPr>
        <p:spPr>
          <a:xfrm>
            <a:off x="6261858" y="4341961"/>
            <a:ext cx="558501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Студенты: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Андронов Денис Андреевич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Волков Никита Игоревич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 err="1">
                <a:latin typeface="Arial" panose="020B0604020202020204" pitchFamily="34" charset="0"/>
                <a:cs typeface="Arial" panose="020B0604020202020204" pitchFamily="34" charset="0"/>
              </a:rPr>
              <a:t>Роганов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Михаил Романович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 err="1">
                <a:latin typeface="Arial" panose="020B0604020202020204" pitchFamily="34" charset="0"/>
                <a:cs typeface="Arial" panose="020B0604020202020204" pitchFamily="34" charset="0"/>
              </a:rPr>
              <a:t>Каргинов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Тамерлан </a:t>
            </a:r>
            <a:r>
              <a:rPr lang="ru-RU" sz="1800" dirty="0" err="1">
                <a:latin typeface="Arial" panose="020B0604020202020204" pitchFamily="34" charset="0"/>
                <a:cs typeface="Arial" panose="020B0604020202020204" pitchFamily="34" charset="0"/>
              </a:rPr>
              <a:t>Урузмагович</a:t>
            </a: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, группа 241-3210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Преподаватели: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Смирнова Ю.В.</a:t>
            </a:r>
            <a:r>
              <a:rPr lang="ru-RU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Кулибаба</a:t>
            </a:r>
            <a:r>
              <a:rPr lang="ru-RU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И.В.</a:t>
            </a: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2">
  <a:themeElements>
    <a:clrScheme name="Московский Политех">
      <a:dk1>
        <a:sysClr val="windowText" lastClr="000000"/>
      </a:dk1>
      <a:lt1>
        <a:sysClr val="window" lastClr="FFFFFF"/>
      </a:lt1>
      <a:dk2>
        <a:srgbClr val="171616"/>
      </a:dk2>
      <a:lt2>
        <a:srgbClr val="E7E6E6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3478BC"/>
      </a:hlink>
      <a:folHlink>
        <a:srgbClr val="E94572"/>
      </a:folHlink>
    </a:clrScheme>
    <a:fontScheme name="Другая 2">
      <a:majorFont>
        <a:latin typeface="Verdana 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олитех" id="{706195B2-3338-754E-B596-794E89AA9D73}" vid="{BB8C50E2-D7A2-124C-B4D7-CE11DEE15890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Тема2</Template>
  <TotalTime>290</TotalTime>
  <Words>677</Words>
  <Application>Microsoft Macintosh PowerPoint</Application>
  <PresentationFormat>Широкоэкранный</PresentationFormat>
  <Paragraphs>139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Verdana </vt:lpstr>
      <vt:lpstr>Calibri</vt:lpstr>
      <vt:lpstr>Gilroy Bold</vt:lpstr>
      <vt:lpstr>Arial</vt:lpstr>
      <vt:lpstr>Gilroy Medium</vt:lpstr>
      <vt:lpstr>Verdana</vt:lpstr>
      <vt:lpstr>Тема2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Мария Булытова</dc:creator>
  <cp:lastModifiedBy>Microsoft Office User</cp:lastModifiedBy>
  <cp:revision>3</cp:revision>
  <dcterms:created xsi:type="dcterms:W3CDTF">2026-04-09T09:51:26Z</dcterms:created>
  <dcterms:modified xsi:type="dcterms:W3CDTF">2026-05-02T12:19:53Z</dcterms:modified>
</cp:coreProperties>
</file>