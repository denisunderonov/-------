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66" r:id="rId2"/>
    <p:sldId id="257" r:id="rId3"/>
    <p:sldId id="265" r:id="rId4"/>
    <p:sldId id="258" r:id="rId5"/>
    <p:sldId id="259" r:id="rId6"/>
    <p:sldId id="260" r:id="rId7"/>
    <p:sldId id="261" r:id="rId8"/>
    <p:sldId id="263" r:id="rId9"/>
    <p:sldId id="264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4" roundtripDataSignature="AMtx7mhTf+SozNHgmZ0UPqrPiC5E2qvF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98"/>
    <p:restoredTop sz="94686"/>
  </p:normalViewPr>
  <p:slideViewPr>
    <p:cSldViewPr snapToGrid="0">
      <p:cViewPr varScale="1">
        <p:scale>
          <a:sx n="95" d="100"/>
          <a:sy n="95" d="100"/>
        </p:scale>
        <p:origin x="216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584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02616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4d1c7aaa4b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g34d1c7aaa4b_2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34d1c7aaa4b_2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d1c7aaa4b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34d1c7aaa4b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g34d1c7aaa4b_0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4d1c7aaa4b_2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g34d1c7aaa4b_2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g34d1c7aaa4b_2_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4d1c7aaa4b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34d1c7aaa4b_0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34d1c7aaa4b_0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4d1c7aaa4b_2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34d1c7aaa4b_2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g34d1c7aaa4b_2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слайд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>
            <a:spLocks noGrp="1"/>
          </p:cNvSpPr>
          <p:nvPr>
            <p:ph type="ctrTitle"/>
          </p:nvPr>
        </p:nvSpPr>
        <p:spPr>
          <a:xfrm>
            <a:off x="1039528" y="2001837"/>
            <a:ext cx="10087276" cy="150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subTitle" idx="1"/>
          </p:nvPr>
        </p:nvSpPr>
        <p:spPr>
          <a:xfrm>
            <a:off x="1039528" y="4129238"/>
            <a:ext cx="10087276" cy="1128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20" name="Google Shape;20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7530" y="-100001"/>
            <a:ext cx="3006013" cy="2125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06097" y="5654764"/>
            <a:ext cx="2860213" cy="163245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" name="Google Shape;22;p10"/>
          <p:cNvCxnSpPr/>
          <p:nvPr/>
        </p:nvCxnSpPr>
        <p:spPr>
          <a:xfrm>
            <a:off x="4555671" y="1224644"/>
            <a:ext cx="7740000" cy="0"/>
          </a:xfrm>
          <a:prstGeom prst="straightConnector1">
            <a:avLst/>
          </a:prstGeom>
          <a:noFill/>
          <a:ln w="5715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3" name="Google Shape;23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7530" y="-100001"/>
            <a:ext cx="3006013" cy="21259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" name="Google Shape;24;p10"/>
          <p:cNvCxnSpPr/>
          <p:nvPr/>
        </p:nvCxnSpPr>
        <p:spPr>
          <a:xfrm>
            <a:off x="4555671" y="1224644"/>
            <a:ext cx="7740000" cy="0"/>
          </a:xfrm>
          <a:prstGeom prst="straightConnector1">
            <a:avLst/>
          </a:prstGeom>
          <a:noFill/>
          <a:ln w="5715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1"/>
          <p:cNvSpPr txBox="1">
            <a:spLocks noGrp="1"/>
          </p:cNvSpPr>
          <p:nvPr>
            <p:ph type="body" idx="1"/>
          </p:nvPr>
        </p:nvSpPr>
        <p:spPr>
          <a:xfrm>
            <a:off x="838200" y="1959430"/>
            <a:ext cx="10281557" cy="3649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1"/>
          <p:cNvSpPr txBox="1">
            <a:spLocks noGrp="1"/>
          </p:cNvSpPr>
          <p:nvPr>
            <p:ph type="sldNum" idx="12"/>
          </p:nvPr>
        </p:nvSpPr>
        <p:spPr>
          <a:xfrm>
            <a:off x="10080171" y="5698671"/>
            <a:ext cx="1787979" cy="1047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>
            <a:spLocks noGrp="1"/>
          </p:cNvSpPr>
          <p:nvPr>
            <p:ph type="title"/>
          </p:nvPr>
        </p:nvSpPr>
        <p:spPr>
          <a:xfrm>
            <a:off x="1058779" y="1286227"/>
            <a:ext cx="10087276" cy="2159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body" idx="1"/>
          </p:nvPr>
        </p:nvSpPr>
        <p:spPr>
          <a:xfrm>
            <a:off x="1058779" y="4165953"/>
            <a:ext cx="10087276" cy="144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>
            <a:spLocks noGrp="1"/>
          </p:cNvSpPr>
          <p:nvPr>
            <p:ph type="sldNum" idx="12"/>
          </p:nvPr>
        </p:nvSpPr>
        <p:spPr>
          <a:xfrm>
            <a:off x="9993084" y="5390016"/>
            <a:ext cx="1828800" cy="1331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body" idx="1"/>
          </p:nvPr>
        </p:nvSpPr>
        <p:spPr>
          <a:xfrm>
            <a:off x="838199" y="1825625"/>
            <a:ext cx="5252357" cy="4109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3543300" cy="4109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4"/>
          <p:cNvSpPr txBox="1">
            <a:spLocks noGrp="1"/>
          </p:cNvSpPr>
          <p:nvPr>
            <p:ph type="sldNum" idx="12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body" idx="1"/>
          </p:nvPr>
        </p:nvSpPr>
        <p:spPr>
          <a:xfrm>
            <a:off x="839788" y="1992085"/>
            <a:ext cx="4205741" cy="51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body" idx="2"/>
          </p:nvPr>
        </p:nvSpPr>
        <p:spPr>
          <a:xfrm>
            <a:off x="839788" y="2702379"/>
            <a:ext cx="4205741" cy="3216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body" idx="3"/>
          </p:nvPr>
        </p:nvSpPr>
        <p:spPr>
          <a:xfrm>
            <a:off x="5372100" y="1992085"/>
            <a:ext cx="4327071" cy="51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body" idx="4"/>
          </p:nvPr>
        </p:nvSpPr>
        <p:spPr>
          <a:xfrm>
            <a:off x="5372100" y="2702379"/>
            <a:ext cx="4327071" cy="3216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885938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>
            <a:spLocks noGrp="1"/>
          </p:cNvSpPr>
          <p:nvPr>
            <p:ph type="sldNum" idx="12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sldNum" idx="12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>
            <a:spLocks noGrp="1"/>
          </p:cNvSpPr>
          <p:nvPr>
            <p:ph type="sldNum" idx="12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body" idx="1"/>
          </p:nvPr>
        </p:nvSpPr>
        <p:spPr>
          <a:xfrm>
            <a:off x="5166859" y="1281339"/>
            <a:ext cx="4898069" cy="4587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8"/>
          <p:cNvSpPr txBox="1">
            <a:spLocks noGrp="1"/>
          </p:cNvSpPr>
          <p:nvPr>
            <p:ph type="sldNum" idx="12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62" name="Google Shape;62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>
            <a:spLocks noGrp="1"/>
          </p:cNvSpPr>
          <p:nvPr>
            <p:ph type="pic" idx="2"/>
          </p:nvPr>
        </p:nvSpPr>
        <p:spPr>
          <a:xfrm>
            <a:off x="5183188" y="1273629"/>
            <a:ext cx="5823902" cy="411208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328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 title="0"/>
          <p:cNvSpPr txBox="1">
            <a:spLocks noGrp="1"/>
          </p:cNvSpPr>
          <p:nvPr>
            <p:ph type="sldNum" idx="12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959429"/>
            <a:ext cx="10281557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pic>
        <p:nvPicPr>
          <p:cNvPr id="13" name="Google Shape;13;p9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225768" y="200819"/>
            <a:ext cx="1489158" cy="105319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9"/>
          <p:cNvSpPr txBox="1"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15" name="Google Shape;15;p9"/>
          <p:cNvCxnSpPr/>
          <p:nvPr/>
        </p:nvCxnSpPr>
        <p:spPr>
          <a:xfrm>
            <a:off x="10260531" y="1094014"/>
            <a:ext cx="19800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6;p9"/>
          <p:cNvCxnSpPr/>
          <p:nvPr/>
        </p:nvCxnSpPr>
        <p:spPr>
          <a:xfrm>
            <a:off x="10260531" y="1094014"/>
            <a:ext cx="19800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D64222-1292-4A23-A829-4D7C56BB71FE}"/>
              </a:ext>
            </a:extLst>
          </p:cNvPr>
          <p:cNvSpPr txBox="1"/>
          <p:nvPr/>
        </p:nvSpPr>
        <p:spPr>
          <a:xfrm>
            <a:off x="4067954" y="771129"/>
            <a:ext cx="81240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b="1" dirty="0">
                <a:solidFill>
                  <a:prstClr val="black"/>
                </a:solidFill>
                <a:latin typeface="Gilroy Bold" panose="00000800000000000000" charset="-52"/>
              </a:rPr>
              <a:t>Реклама в интернете</a:t>
            </a: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Bold" panose="00000800000000000000" charset="-52"/>
              <a:ea typeface="+mn-ea"/>
              <a:cs typeface="+mn-cs"/>
            </a:endParaRPr>
          </a:p>
          <a:p>
            <a:pPr algn="ctr"/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  <a:p>
            <a:pPr algn="ctr"/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 </a:t>
            </a:r>
            <a:r>
              <a:rPr lang="ru-RU" sz="1800" dirty="0">
                <a:latin typeface="Gilroy Medium" panose="00000600000000000000" charset="-52"/>
              </a:rPr>
              <a:t>по направлению 09.03.01 Информатика и вычислительная техника</a:t>
            </a:r>
          </a:p>
          <a:p>
            <a:pPr algn="ctr"/>
            <a:r>
              <a:rPr lang="ru-RU" sz="1800" dirty="0">
                <a:latin typeface="Gilroy Medium" panose="00000600000000000000" charset="-52"/>
              </a:rPr>
              <a:t>Образовательная программа (профиль) «Веб-технологии»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AA36A-0422-46F0-BA3A-4B2EF754C329}"/>
              </a:ext>
            </a:extLst>
          </p:cNvPr>
          <p:cNvSpPr txBox="1"/>
          <p:nvPr/>
        </p:nvSpPr>
        <p:spPr>
          <a:xfrm>
            <a:off x="152400" y="2951946"/>
            <a:ext cx="118872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800" b="1" dirty="0">
                <a:solidFill>
                  <a:prstClr val="black"/>
                </a:solidFill>
                <a:latin typeface="Gilroy Bold" panose="00000800000000000000" charset="-52"/>
                <a:ea typeface="+mj-ea"/>
                <a:cs typeface="+mj-cs"/>
              </a:rPr>
              <a:t>Реклама в интернете</a:t>
            </a:r>
          </a:p>
          <a:p>
            <a:pPr algn="ctr"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j-ea"/>
                <a:cs typeface="+mj-cs"/>
              </a:rPr>
              <a:t>Лабораторная работа №1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18C808-D44B-4FFB-A9B8-91FA34E1C60F}"/>
              </a:ext>
            </a:extLst>
          </p:cNvPr>
          <p:cNvSpPr txBox="1"/>
          <p:nvPr/>
        </p:nvSpPr>
        <p:spPr>
          <a:xfrm>
            <a:off x="6454588" y="4207490"/>
            <a:ext cx="558501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b="1" dirty="0">
                <a:latin typeface="Arial" panose="020B0604020202020204" pitchFamily="34" charset="0"/>
                <a:cs typeface="Arial" panose="020B0604020202020204" pitchFamily="34" charset="0"/>
              </a:rPr>
              <a:t>Студенты: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Андронов Денис Андреевич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Волков Никита Игоревич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 err="1">
                <a:latin typeface="Arial" panose="020B0604020202020204" pitchFamily="34" charset="0"/>
                <a:cs typeface="Arial" panose="020B0604020202020204" pitchFamily="34" charset="0"/>
              </a:rPr>
              <a:t>Роганов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Михаил Романович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 err="1">
                <a:latin typeface="Arial" panose="020B0604020202020204" pitchFamily="34" charset="0"/>
                <a:cs typeface="Arial" panose="020B0604020202020204" pitchFamily="34" charset="0"/>
              </a:rPr>
              <a:t>Каргинов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Тамерлан </a:t>
            </a:r>
            <a:r>
              <a:rPr lang="ru-RU" sz="1800" dirty="0" err="1">
                <a:latin typeface="Arial" panose="020B0604020202020204" pitchFamily="34" charset="0"/>
                <a:cs typeface="Arial" panose="020B0604020202020204" pitchFamily="34" charset="0"/>
              </a:rPr>
              <a:t>Урузмагович</a:t>
            </a: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, группа 241-3210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Преподаватели:</a:t>
            </a:r>
            <a:r>
              <a:rPr lang="ru-RU" sz="1800" b="0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Смирнова Ю.В.</a:t>
            </a:r>
            <a:r>
              <a:rPr lang="ru-RU" sz="1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Кулибаба</a:t>
            </a:r>
            <a:r>
              <a:rPr lang="ru-RU" sz="1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И.В.</a:t>
            </a: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E4B5EE-80E5-44C9-B29C-37CD3F69DA42}"/>
              </a:ext>
            </a:extLst>
          </p:cNvPr>
          <p:cNvSpPr txBox="1"/>
          <p:nvPr/>
        </p:nvSpPr>
        <p:spPr>
          <a:xfrm>
            <a:off x="4782071" y="6353372"/>
            <a:ext cx="22503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916414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Google Shape;82;p2"/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noFill/>
          <a:ln w="9525" cap="flat" cmpd="sng">
            <a:solidFill>
              <a:srgbClr val="FBFF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3" name="Google Shape;83;p2"/>
          <p:cNvSpPr txBox="1">
            <a:spLocks noGrp="1"/>
          </p:cNvSpPr>
          <p:nvPr>
            <p:ph type="sldNum" idx="12"/>
          </p:nvPr>
        </p:nvSpPr>
        <p:spPr>
          <a:xfrm>
            <a:off x="11580453" y="6171414"/>
            <a:ext cx="409963" cy="610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3200"/>
              <a:t>2</a:t>
            </a:fld>
            <a:endParaRPr sz="3200"/>
          </a:p>
        </p:txBody>
      </p:sp>
      <p:sp>
        <p:nvSpPr>
          <p:cNvPr id="84" name="Google Shape;84;p2"/>
          <p:cNvSpPr txBox="1"/>
          <p:nvPr/>
        </p:nvSpPr>
        <p:spPr>
          <a:xfrm>
            <a:off x="292100" y="1834473"/>
            <a:ext cx="11430000" cy="1594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ru-RU" sz="2000" b="0" i="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Разработка </a:t>
            </a:r>
            <a:r>
              <a:rPr lang="ru-RU" sz="2000" b="0" i="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аватара</a:t>
            </a:r>
            <a:r>
              <a:rPr lang="ru-RU" sz="2000" b="0" i="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клиента и карты информационных потребностей для формирования эффективной рекламной стратегии.</a:t>
            </a:r>
            <a:endParaRPr lang="en-US" sz="2000" b="0" i="0" dirty="0"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 algn="l">
              <a:buFont typeface="+mj-lt"/>
              <a:buAutoNum type="arabicPeriod"/>
            </a:pPr>
            <a:endParaRPr lang="ru-RU" sz="2000" b="0" i="0" dirty="0"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ru-RU" sz="2000" b="0" i="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Изучение социально-демографических и психологических характеристик целевой аудитории.</a:t>
            </a:r>
          </a:p>
          <a:p>
            <a:pPr marL="457200" lvl="0" indent="-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+mj-lt"/>
              <a:buAutoNum type="arabicPeriod"/>
            </a:pPr>
            <a:endParaRPr sz="20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8DDDC6-2D28-D64C-92B0-BAD4FA81006B}"/>
              </a:ext>
            </a:extLst>
          </p:cNvPr>
          <p:cNvSpPr txBox="1"/>
          <p:nvPr/>
        </p:nvSpPr>
        <p:spPr>
          <a:xfrm>
            <a:off x="457200" y="624849"/>
            <a:ext cx="32383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Ц</a:t>
            </a:r>
            <a:r>
              <a:rPr lang="ru-RU" sz="32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ель работы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 txBox="1"/>
          <p:nvPr/>
        </p:nvSpPr>
        <p:spPr>
          <a:xfrm>
            <a:off x="457200" y="532349"/>
            <a:ext cx="10933500" cy="6008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Имя:</a:t>
            </a: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Даниил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Возраст:</a:t>
            </a: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20 лет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Местоположение:</a:t>
            </a: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Россия, крупный город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Семейное положение:</a:t>
            </a: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не женат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Род деятельности:</a:t>
            </a: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студент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Доход:</a:t>
            </a: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10 000 – 40 000 рублей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Образование:</a:t>
            </a: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неоконченное высшее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Боли:</a:t>
            </a:r>
            <a:b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· слабый уровень английского;</a:t>
            </a:r>
            <a:b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· страх говорить;</a:t>
            </a:r>
            <a:b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· не может сдать экзамен;</a:t>
            </a:r>
            <a:b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· неуверенность в себе;</a:t>
            </a:r>
            <a:b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· отставание от сверстников.</a:t>
            </a:r>
            <a:endParaRPr sz="1800" dirty="0">
              <a:solidFill>
                <a:schemeClr val="dk2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82" name="Google Shape;82;p2"/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noFill/>
          <a:ln w="9525" cap="flat" cmpd="sng">
            <a:solidFill>
              <a:srgbClr val="FBFF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3" name="Google Shape;83;p2"/>
          <p:cNvSpPr txBox="1">
            <a:spLocks noGrp="1"/>
          </p:cNvSpPr>
          <p:nvPr>
            <p:ph type="sldNum" idx="12"/>
          </p:nvPr>
        </p:nvSpPr>
        <p:spPr>
          <a:xfrm>
            <a:off x="11580453" y="6171414"/>
            <a:ext cx="409963" cy="610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3200"/>
              <a:t>3</a:t>
            </a:fld>
            <a:endParaRPr sz="3200"/>
          </a:p>
        </p:txBody>
      </p:sp>
    </p:spTree>
    <p:extLst>
      <p:ext uri="{BB962C8B-B14F-4D97-AF65-F5344CB8AC3E}">
        <p14:creationId xmlns:p14="http://schemas.microsoft.com/office/powerpoint/2010/main" val="3532900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" name="Google Shape;90;g34d1c7aaa4b_2_2"/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noFill/>
          <a:ln w="9525" cap="flat" cmpd="sng">
            <a:solidFill>
              <a:srgbClr val="FBFF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1" name="Google Shape;91;g34d1c7aaa4b_2_2"/>
          <p:cNvSpPr txBox="1">
            <a:spLocks noGrp="1"/>
          </p:cNvSpPr>
          <p:nvPr>
            <p:ph type="sldNum" idx="12"/>
          </p:nvPr>
        </p:nvSpPr>
        <p:spPr>
          <a:xfrm>
            <a:off x="11580453" y="6171414"/>
            <a:ext cx="4101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3200"/>
              <a:t>4</a:t>
            </a:fld>
            <a:endParaRPr sz="3200"/>
          </a:p>
        </p:txBody>
      </p:sp>
      <p:sp>
        <p:nvSpPr>
          <p:cNvPr id="92" name="Google Shape;92;g34d1c7aaa4b_2_2"/>
          <p:cNvSpPr txBox="1"/>
          <p:nvPr/>
        </p:nvSpPr>
        <p:spPr>
          <a:xfrm>
            <a:off x="457200" y="1158114"/>
            <a:ext cx="10933500" cy="56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Оперативные задачи:</a:t>
            </a:r>
            <a:b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· сдать экзамен;</a:t>
            </a:r>
            <a:b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· подтянуть разговорный английский;</a:t>
            </a:r>
            <a:b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· повысить уровень знаний;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Глобальные мечты:</a:t>
            </a:r>
            <a:b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· работа за границей;</a:t>
            </a:r>
            <a:b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· высокий доход;</a:t>
            </a:r>
            <a:b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· успешная карьера;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Страхи:</a:t>
            </a:r>
            <a:b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· провал экзамена;</a:t>
            </a:r>
            <a:b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· отсутствие работы;</a:t>
            </a:r>
            <a:b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· упущенные возможности;</a:t>
            </a:r>
            <a:endParaRPr sz="1800" dirty="0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4d1c7aaa4b_0_10"/>
          <p:cNvSpPr txBox="1"/>
          <p:nvPr/>
        </p:nvSpPr>
        <p:spPr>
          <a:xfrm>
            <a:off x="457200" y="1424814"/>
            <a:ext cx="10933500" cy="56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Шаги:</a:t>
            </a:r>
            <a:b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· пытается учить язык самостоятельно;</a:t>
            </a:r>
            <a:b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· смотрит обучающие видео;</a:t>
            </a:r>
            <a:b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· использует приложения;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Раздражает:</a:t>
            </a:r>
            <a:b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· скучное обучение;</a:t>
            </a:r>
            <a:b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· сложные объяснения;</a:t>
            </a:r>
            <a:b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· отсутствие результата;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Ценности:</a:t>
            </a:r>
            <a:b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· свобода;</a:t>
            </a:r>
            <a:b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· развитие;</a:t>
            </a:r>
            <a:b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· успех;</a:t>
            </a:r>
            <a:endParaRPr sz="1800" dirty="0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Times New Roman"/>
            </a:endParaRPr>
          </a:p>
        </p:txBody>
      </p:sp>
      <p:cxnSp>
        <p:nvCxnSpPr>
          <p:cNvPr id="98" name="Google Shape;98;g34d1c7aaa4b_0_10"/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noFill/>
          <a:ln w="9525" cap="flat" cmpd="sng">
            <a:solidFill>
              <a:srgbClr val="FBFF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9" name="Google Shape;99;g34d1c7aaa4b_0_10"/>
          <p:cNvSpPr txBox="1">
            <a:spLocks noGrp="1"/>
          </p:cNvSpPr>
          <p:nvPr>
            <p:ph type="sldNum" idx="12"/>
          </p:nvPr>
        </p:nvSpPr>
        <p:spPr>
          <a:xfrm>
            <a:off x="11580453" y="6171414"/>
            <a:ext cx="4101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3200"/>
              <a:t>5</a:t>
            </a:fld>
            <a:endParaRPr sz="3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Google Shape;106;g34d1c7aaa4b_2_9"/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noFill/>
          <a:ln w="9525" cap="flat" cmpd="sng">
            <a:solidFill>
              <a:srgbClr val="FBFF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7" name="Google Shape;107;g34d1c7aaa4b_2_9"/>
          <p:cNvSpPr txBox="1">
            <a:spLocks noGrp="1"/>
          </p:cNvSpPr>
          <p:nvPr>
            <p:ph type="sldNum" idx="12"/>
          </p:nvPr>
        </p:nvSpPr>
        <p:spPr>
          <a:xfrm>
            <a:off x="11580453" y="6171414"/>
            <a:ext cx="4101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3200"/>
              <a:t>6</a:t>
            </a:fld>
            <a:endParaRPr sz="3200"/>
          </a:p>
        </p:txBody>
      </p:sp>
      <p:sp>
        <p:nvSpPr>
          <p:cNvPr id="108" name="Google Shape;108;g34d1c7aaa4b_2_9"/>
          <p:cNvSpPr txBox="1"/>
          <p:nvPr/>
        </p:nvSpPr>
        <p:spPr>
          <a:xfrm>
            <a:off x="629250" y="1121100"/>
            <a:ext cx="10933500" cy="49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Манера общения:</a:t>
            </a:r>
            <a:b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· неформальная, простая;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Где потребляет контент:</a:t>
            </a:r>
            <a:b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· </a:t>
            </a:r>
            <a:r>
              <a:rPr lang="en" sz="18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TikTok</a:t>
            </a:r>
            <a:r>
              <a:rPr lang="en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;</a:t>
            </a:r>
            <a:br>
              <a:rPr lang="en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· YouTube;</a:t>
            </a:r>
            <a:br>
              <a:rPr lang="en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· Instagram;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Интересы:</a:t>
            </a:r>
            <a:b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· учеба;</a:t>
            </a:r>
            <a:b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· карьера;</a:t>
            </a:r>
            <a:b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· путешествия;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Роль продукта:</a:t>
            </a:r>
            <a:b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· инструмент для развития и будущей карьеры;</a:t>
            </a:r>
            <a:endParaRPr sz="1800" dirty="0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4" name="Google Shape;114;g34d1c7aaa4b_0_17"/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noFill/>
          <a:ln w="9525" cap="flat" cmpd="sng">
            <a:solidFill>
              <a:srgbClr val="FBFF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5" name="Google Shape;115;g34d1c7aaa4b_0_17"/>
          <p:cNvSpPr txBox="1">
            <a:spLocks noGrp="1"/>
          </p:cNvSpPr>
          <p:nvPr>
            <p:ph type="sldNum" idx="12"/>
          </p:nvPr>
        </p:nvSpPr>
        <p:spPr>
          <a:xfrm>
            <a:off x="11580453" y="6171414"/>
            <a:ext cx="4101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3200"/>
              <a:t>7</a:t>
            </a:fld>
            <a:endParaRPr sz="3200"/>
          </a:p>
        </p:txBody>
      </p:sp>
      <p:sp>
        <p:nvSpPr>
          <p:cNvPr id="116" name="Google Shape;116;g34d1c7aaa4b_0_17"/>
          <p:cNvSpPr txBox="1"/>
          <p:nvPr/>
        </p:nvSpPr>
        <p:spPr>
          <a:xfrm>
            <a:off x="457200" y="616950"/>
            <a:ext cx="10933500" cy="56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Уровень осведомлённости:</a:t>
            </a:r>
            <a:b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· средний;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Как принимает решение:</a:t>
            </a:r>
            <a:b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· эмоционально, с учетом цены;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Кто решает:</a:t>
            </a:r>
            <a:b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· сам;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Критерии выбора:</a:t>
            </a:r>
            <a:b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· цена;</a:t>
            </a:r>
            <a:b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· простота обучения;</a:t>
            </a:r>
            <a:b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· интересный формат;</a:t>
            </a:r>
            <a:endParaRPr lang="ru-RU" sz="1800" dirty="0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4D9A4F-9101-9C4D-AD50-35708A194AC6}"/>
              </a:ext>
            </a:extLst>
          </p:cNvPr>
          <p:cNvSpPr txBox="1"/>
          <p:nvPr/>
        </p:nvSpPr>
        <p:spPr>
          <a:xfrm>
            <a:off x="457200" y="4522073"/>
            <a:ext cx="6131858" cy="1341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b="1" i="0" u="none" strike="noStrike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Возражения:</a:t>
            </a:r>
            <a:br>
              <a:rPr lang="ru-RU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· «дорого»;</a:t>
            </a:r>
            <a:br>
              <a:rPr lang="ru-RU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· «нет времени»;</a:t>
            </a:r>
            <a:br>
              <a:rPr lang="ru-RU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· «смогу выучить сам»;</a:t>
            </a:r>
            <a:endParaRPr lang="ru-RU" sz="18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0" name="Google Shape;130;g34d1c7aaa4b_2_16"/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noFill/>
          <a:ln w="9525" cap="flat" cmpd="sng">
            <a:solidFill>
              <a:srgbClr val="FBFF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1" name="Google Shape;131;g34d1c7aaa4b_2_16"/>
          <p:cNvSpPr txBox="1">
            <a:spLocks noGrp="1"/>
          </p:cNvSpPr>
          <p:nvPr>
            <p:ph type="sldNum" idx="12"/>
          </p:nvPr>
        </p:nvSpPr>
        <p:spPr>
          <a:xfrm>
            <a:off x="11580453" y="6171414"/>
            <a:ext cx="4101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3200"/>
              <a:t>8</a:t>
            </a:fld>
            <a:endParaRPr sz="3200"/>
          </a:p>
        </p:txBody>
      </p:sp>
      <p:sp>
        <p:nvSpPr>
          <p:cNvPr id="132" name="Google Shape;132;g34d1c7aaa4b_2_16"/>
          <p:cNvSpPr txBox="1"/>
          <p:nvPr/>
        </p:nvSpPr>
        <p:spPr>
          <a:xfrm>
            <a:off x="250521" y="614079"/>
            <a:ext cx="9604679" cy="77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800" b="1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Times New Roman"/>
              </a:rPr>
              <a:t>Карта информационных потребностей</a:t>
            </a:r>
            <a:endParaRPr sz="2800" b="1" dirty="0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Times New Roman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0CEFE2F-2536-1A43-B2A1-7D63EDAEA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521" y="1718167"/>
            <a:ext cx="11690957" cy="44532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9" name="Google Shape;139;p8"/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noFill/>
          <a:ln w="9525" cap="flat" cmpd="sng">
            <a:solidFill>
              <a:srgbClr val="FBFF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0" name="Google Shape;140;p8"/>
          <p:cNvSpPr txBox="1"/>
          <p:nvPr/>
        </p:nvSpPr>
        <p:spPr>
          <a:xfrm>
            <a:off x="4721568" y="6454765"/>
            <a:ext cx="230576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1434420" y="2951946"/>
            <a:ext cx="965487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-RU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Спасибо за внимание!</a:t>
            </a:r>
            <a:endParaRPr dirty="0"/>
          </a:p>
        </p:txBody>
      </p:sp>
      <p:sp>
        <p:nvSpPr>
          <p:cNvPr id="142" name="Google Shape;142;p8"/>
          <p:cNvSpPr txBox="1"/>
          <p:nvPr/>
        </p:nvSpPr>
        <p:spPr>
          <a:xfrm>
            <a:off x="4274728" y="713847"/>
            <a:ext cx="81240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1"/>
              <a:t>Реклама в Интернет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 направлению 09.03.01 Информатика и вычислительная техника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Образовательная программа (профиль) «Веб-технологии»</a:t>
            </a: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4F5034-139C-0D40-B099-E0B7422C96EF}"/>
              </a:ext>
            </a:extLst>
          </p:cNvPr>
          <p:cNvSpPr txBox="1"/>
          <p:nvPr/>
        </p:nvSpPr>
        <p:spPr>
          <a:xfrm>
            <a:off x="6261858" y="4341961"/>
            <a:ext cx="558501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b="1" dirty="0">
                <a:latin typeface="Arial" panose="020B0604020202020204" pitchFamily="34" charset="0"/>
                <a:cs typeface="Arial" panose="020B0604020202020204" pitchFamily="34" charset="0"/>
              </a:rPr>
              <a:t>Студенты: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Андронов Денис Андреевич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Волков Никита Игоревич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 err="1">
                <a:latin typeface="Arial" panose="020B0604020202020204" pitchFamily="34" charset="0"/>
                <a:cs typeface="Arial" panose="020B0604020202020204" pitchFamily="34" charset="0"/>
              </a:rPr>
              <a:t>Роганов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Михаил Романович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 err="1">
                <a:latin typeface="Arial" panose="020B0604020202020204" pitchFamily="34" charset="0"/>
                <a:cs typeface="Arial" panose="020B0604020202020204" pitchFamily="34" charset="0"/>
              </a:rPr>
              <a:t>Каргинов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Тамерлан </a:t>
            </a:r>
            <a:r>
              <a:rPr lang="ru-RU" sz="1800" dirty="0" err="1">
                <a:latin typeface="Arial" panose="020B0604020202020204" pitchFamily="34" charset="0"/>
                <a:cs typeface="Arial" panose="020B0604020202020204" pitchFamily="34" charset="0"/>
              </a:rPr>
              <a:t>Урузмагович</a:t>
            </a: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, группа 241-3210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Преподаватели:</a:t>
            </a:r>
            <a:r>
              <a:rPr lang="ru-RU" sz="1800" b="0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Смирнова Ю.В.</a:t>
            </a:r>
            <a:r>
              <a:rPr lang="ru-RU" sz="1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Кулибаба</a:t>
            </a:r>
            <a:r>
              <a:rPr lang="ru-RU" sz="1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И.В.</a:t>
            </a: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2">
  <a:themeElements>
    <a:clrScheme name="Московский Политех">
      <a:dk1>
        <a:srgbClr val="000000"/>
      </a:dk1>
      <a:lt1>
        <a:srgbClr val="FFFFFF"/>
      </a:lt1>
      <a:dk2>
        <a:srgbClr val="171616"/>
      </a:dk2>
      <a:lt2>
        <a:srgbClr val="E7E6E6"/>
      </a:lt2>
      <a:accent1>
        <a:srgbClr val="E61E46"/>
      </a:accent1>
      <a:accent2>
        <a:srgbClr val="1E3E8D"/>
      </a:accent2>
      <a:accent3>
        <a:srgbClr val="A5A5A5"/>
      </a:accent3>
      <a:accent4>
        <a:srgbClr val="60DCCA"/>
      </a:accent4>
      <a:accent5>
        <a:srgbClr val="3478BC"/>
      </a:accent5>
      <a:accent6>
        <a:srgbClr val="E94572"/>
      </a:accent6>
      <a:hlink>
        <a:srgbClr val="3478BC"/>
      </a:hlink>
      <a:folHlink>
        <a:srgbClr val="E945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7336</TotalTime>
  <Words>439</Words>
  <Application>Microsoft Macintosh PowerPoint</Application>
  <PresentationFormat>Широкоэкранный</PresentationFormat>
  <Paragraphs>70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Calibri</vt:lpstr>
      <vt:lpstr>Gilroy Bold</vt:lpstr>
      <vt:lpstr>Gilroy Medium</vt:lpstr>
      <vt:lpstr>Verdana</vt:lpstr>
      <vt:lpstr>Тема2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Бахадыр Расулов</dc:creator>
  <cp:lastModifiedBy>Microsoft Office User</cp:lastModifiedBy>
  <cp:revision>19</cp:revision>
  <dcterms:created xsi:type="dcterms:W3CDTF">2024-05-27T20:04:35Z</dcterms:created>
  <dcterms:modified xsi:type="dcterms:W3CDTF">2026-05-02T12:17:43Z</dcterms:modified>
</cp:coreProperties>
</file>