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11"/>
  </p:notesMasterIdLst>
  <p:sldIdLst>
    <p:sldId id="256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64" r:id="rId10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Gilroy Bold" panose="020B0803050000020004" pitchFamily="34" charset="0"/>
      <p:bold r:id="rId16"/>
    </p:embeddedFont>
    <p:embeddedFont>
      <p:font typeface="Gilroy Medium" panose="020B0503050000020004" pitchFamily="34" charset="0"/>
      <p:regular r:id="rId17"/>
    </p:embeddedFont>
    <p:embeddedFont>
      <p:font typeface="Verdana" panose="020B0604030504040204" pitchFamily="34" charset="0"/>
      <p:regular r:id="rId17"/>
      <p:bold r:id="rId17"/>
      <p:italic r:id="rId17"/>
      <p:boldItalic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45" autoAdjust="0"/>
    <p:restoredTop sz="95652"/>
  </p:normalViewPr>
  <p:slideViewPr>
    <p:cSldViewPr snapToGrid="0">
      <p:cViewPr varScale="1">
        <p:scale>
          <a:sx n="90" d="100"/>
          <a:sy n="90" d="100"/>
        </p:scale>
        <p:origin x="240" y="4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804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3027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4487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2709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400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45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110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02.05.2026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02.05.2026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02.05.2026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02.05.2026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02.05.2026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02.05.2026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02.05.2026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02.05.2026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>
                <a:solidFill>
                  <a:prstClr val="black"/>
                </a:solidFill>
                <a:latin typeface="Gilroy Bold" panose="00000800000000000000" charset="-52"/>
              </a:rPr>
              <a:t>Реклама в интернете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  <a:p>
            <a:pPr algn="ctr"/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dirty="0">
                <a:latin typeface="Gilroy Medium" panose="00000600000000000000" charset="-52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dirty="0">
                <a:latin typeface="Gilroy Medium" panose="00000600000000000000" charset="-52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152400" y="3163233"/>
            <a:ext cx="11887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b="1" dirty="0">
                <a:solidFill>
                  <a:prstClr val="black"/>
                </a:solidFill>
                <a:latin typeface="Gilroy Bold" panose="00000800000000000000" charset="-52"/>
                <a:ea typeface="+mj-ea"/>
                <a:cs typeface="+mj-cs"/>
              </a:rPr>
              <a:t>Реклама в интернете</a:t>
            </a:r>
          </a:p>
          <a:p>
            <a:pPr algn="ctr"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Лабораторная работа №4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E770EE-B563-8940-B5EF-79F173CDFFA0}"/>
              </a:ext>
            </a:extLst>
          </p:cNvPr>
          <p:cNvSpPr txBox="1"/>
          <p:nvPr/>
        </p:nvSpPr>
        <p:spPr>
          <a:xfrm>
            <a:off x="6454588" y="4379425"/>
            <a:ext cx="55850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Студенты: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Андронов Денис Андреевич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Волков Никита Игоревич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Роганов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Михаил Романович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Каргинов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Тамерлан </a:t>
            </a: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Урузмагович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, группа 241-3210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Преподаватели: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Смирнова Ю.В.</a:t>
            </a:r>
            <a:r>
              <a:rPr lang="ru-RU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Кулибаба</a:t>
            </a:r>
            <a:r>
              <a:rPr lang="ru-RU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И.В.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2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331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dirty="0">
                <a:solidFill>
                  <a:prstClr val="black"/>
                </a:solidFill>
                <a:latin typeface="+mj-lt"/>
              </a:rPr>
              <a:t>Цель работы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7D3532-0EAD-E348-BB0C-FC39E1C6FC66}"/>
              </a:ext>
            </a:extLst>
          </p:cNvPr>
          <p:cNvSpPr txBox="1"/>
          <p:nvPr/>
        </p:nvSpPr>
        <p:spPr>
          <a:xfrm>
            <a:off x="130029" y="1951672"/>
            <a:ext cx="115714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</a:t>
            </a:r>
            <a:r>
              <a:rPr lang="ru-RU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Изучение основ бизнес-</a:t>
            </a:r>
            <a:r>
              <a:rPr lang="ru-RU" b="0" i="0" u="none" strike="noStrike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сторителлинга</a:t>
            </a:r>
            <a:r>
              <a:rPr lang="ru-RU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и концепций построения историй:</a:t>
            </a:r>
            <a:endParaRPr lang="en-US" b="0" i="0" u="none" strike="noStrike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b="0" i="0" u="none" strike="noStrike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«Трехактная структура»</a:t>
            </a:r>
            <a:endParaRPr lang="en-US" b="0" i="0" u="none" strike="noStrike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«Американские горки»</a:t>
            </a:r>
            <a:endParaRPr lang="en-US" b="0" i="0" u="none" strike="noStrike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«Путешествие героя»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6D5D80-8E72-B340-ABDF-F30E093C7540}"/>
              </a:ext>
            </a:extLst>
          </p:cNvPr>
          <p:cNvSpPr txBox="1"/>
          <p:nvPr/>
        </p:nvSpPr>
        <p:spPr>
          <a:xfrm>
            <a:off x="130028" y="3670638"/>
            <a:ext cx="1179692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</a:rPr>
              <a:t>2. </a:t>
            </a:r>
            <a:r>
              <a:rPr lang="ru-RU" b="0" i="0" dirty="0">
                <a:effectLst/>
              </a:rPr>
              <a:t>Создание историй, способных:</a:t>
            </a:r>
            <a:endParaRPr lang="en-US" b="0" i="0" dirty="0">
              <a:effectLst/>
            </a:endParaRPr>
          </a:p>
          <a:p>
            <a:pPr algn="l"/>
            <a:endParaRPr lang="en-US" b="0" i="0" dirty="0"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удерживать внимание аудитории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вызывать эмоциональный отклик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формировать доверие к бренду</a:t>
            </a:r>
            <a:endParaRPr lang="en-US" b="0" i="0" dirty="0">
              <a:effectLst/>
            </a:endParaRPr>
          </a:p>
          <a:p>
            <a:pPr algn="l"/>
            <a:endParaRPr lang="ru-RU" b="0" i="0" dirty="0">
              <a:effectLst/>
            </a:endParaRPr>
          </a:p>
          <a:p>
            <a:pPr algn="l"/>
            <a:r>
              <a:rPr lang="ru-RU" b="1" i="0" dirty="0">
                <a:effectLst/>
              </a:rPr>
              <a:t>Результат:</a:t>
            </a:r>
            <a:endParaRPr lang="en-US" b="1" i="0" dirty="0">
              <a:effectLst/>
            </a:endParaRPr>
          </a:p>
          <a:p>
            <a:pPr algn="l"/>
            <a:endParaRPr lang="en-US" b="0" i="0" dirty="0"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8 </a:t>
            </a:r>
            <a:r>
              <a:rPr lang="ru-RU" b="0" i="0" dirty="0" err="1">
                <a:effectLst/>
              </a:rPr>
              <a:t>логлайнов</a:t>
            </a:r>
            <a:r>
              <a:rPr lang="ru-RU" b="0" i="0" dirty="0">
                <a:effectLst/>
              </a:rPr>
              <a:t> историй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1 детализированная история</a:t>
            </a:r>
          </a:p>
        </p:txBody>
      </p:sp>
    </p:spTree>
    <p:extLst>
      <p:ext uri="{BB962C8B-B14F-4D97-AF65-F5344CB8AC3E}">
        <p14:creationId xmlns:p14="http://schemas.microsoft.com/office/powerpoint/2010/main" val="3346767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3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331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Что такое бизнес-</a:t>
            </a:r>
            <a:r>
              <a:rPr lang="ru-RU" sz="3200" b="1" i="0" u="none" strike="noStrike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сторителлинг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7D3532-0EAD-E348-BB0C-FC39E1C6FC66}"/>
              </a:ext>
            </a:extLst>
          </p:cNvPr>
          <p:cNvSpPr txBox="1"/>
          <p:nvPr/>
        </p:nvSpPr>
        <p:spPr>
          <a:xfrm>
            <a:off x="130029" y="1951672"/>
            <a:ext cx="115714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effectLst/>
              </a:rPr>
              <a:t>Бизнес-</a:t>
            </a:r>
            <a:r>
              <a:rPr lang="ru-RU" b="1" i="0" dirty="0" err="1">
                <a:effectLst/>
              </a:rPr>
              <a:t>сторителлинг</a:t>
            </a:r>
            <a:r>
              <a:rPr lang="ru-RU" b="1" i="0" dirty="0">
                <a:effectLst/>
              </a:rPr>
              <a:t> </a:t>
            </a:r>
            <a:r>
              <a:rPr lang="en-US" b="0" i="0" dirty="0">
                <a:effectLst/>
              </a:rPr>
              <a:t>-</a:t>
            </a:r>
            <a:r>
              <a:rPr lang="ru-RU" b="0" i="0" dirty="0">
                <a:effectLst/>
              </a:rPr>
              <a:t> это способ донесения ценности продукта через историю.</a:t>
            </a:r>
            <a:endParaRPr lang="en-US" b="0" i="0" dirty="0">
              <a:effectLst/>
            </a:endParaRPr>
          </a:p>
          <a:p>
            <a:pPr algn="l"/>
            <a:endParaRPr lang="ru-RU" b="0" i="0" dirty="0">
              <a:effectLst/>
            </a:endParaRPr>
          </a:p>
          <a:p>
            <a:pPr algn="l"/>
            <a:r>
              <a:rPr lang="ru-RU" b="1" i="0" dirty="0">
                <a:effectLst/>
              </a:rPr>
              <a:t>Позволяет:</a:t>
            </a:r>
            <a:endParaRPr lang="en-US" b="1" i="0" dirty="0">
              <a:effectLst/>
            </a:endParaRPr>
          </a:p>
          <a:p>
            <a:pPr algn="l"/>
            <a:endParaRPr lang="en-US" b="1" i="0" dirty="0"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вовлекать аудиторию</a:t>
            </a:r>
            <a:endParaRPr lang="en-US" b="0" i="0" dirty="0"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вызывать доверие</a:t>
            </a:r>
            <a:endParaRPr lang="en-US" b="0" i="0" dirty="0"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объяснять сложные вещи</a:t>
            </a:r>
            <a:endParaRPr lang="en-US" b="0" i="0" dirty="0"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формировать эмоциональную связь</a:t>
            </a:r>
          </a:p>
        </p:txBody>
      </p:sp>
    </p:spTree>
    <p:extLst>
      <p:ext uri="{BB962C8B-B14F-4D97-AF65-F5344CB8AC3E}">
        <p14:creationId xmlns:p14="http://schemas.microsoft.com/office/powerpoint/2010/main" val="83613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4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331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b="1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Форматы историй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7D3532-0EAD-E348-BB0C-FC39E1C6FC66}"/>
              </a:ext>
            </a:extLst>
          </p:cNvPr>
          <p:cNvSpPr txBox="1"/>
          <p:nvPr/>
        </p:nvSpPr>
        <p:spPr>
          <a:xfrm>
            <a:off x="130029" y="1951672"/>
            <a:ext cx="115714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История компании</a:t>
            </a:r>
            <a:endParaRPr lang="en-US" b="0" i="0" u="none" strike="noStrike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История клиента</a:t>
            </a:r>
            <a:endParaRPr lang="en-US" b="0" i="0" u="none" strike="noStrike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Кейс</a:t>
            </a:r>
            <a:endParaRPr lang="en-US" b="0" i="0" u="none" strike="noStrike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История преодоления</a:t>
            </a:r>
            <a:endParaRPr lang="en-US" b="0" i="0" u="none" strike="noStrike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Обучающая история</a:t>
            </a:r>
            <a:endParaRPr lang="en-US" b="0" i="0" u="none" strike="noStrike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История провала</a:t>
            </a:r>
            <a:endParaRPr lang="en-US" b="0" i="0" u="none" strike="noStrike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История успеха</a:t>
            </a:r>
            <a:endParaRPr lang="en-US" b="0" i="0" u="none" strike="noStrike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Ценности в действии</a:t>
            </a:r>
            <a:endParaRPr lang="ru-RU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640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5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331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kern="1200" cap="none" spc="0" normalizeH="0" baseline="0" noProof="0" dirty="0">
                <a:ln>
                  <a:noFill/>
                </a:ln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Структуры историй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B4C090-197C-7341-BBA5-6C6B84E0A2CE}"/>
              </a:ext>
            </a:extLst>
          </p:cNvPr>
          <p:cNvSpPr txBox="1"/>
          <p:nvPr/>
        </p:nvSpPr>
        <p:spPr>
          <a:xfrm>
            <a:off x="130029" y="1591323"/>
            <a:ext cx="531350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effectLst/>
              </a:rPr>
              <a:t>Трехактная структура</a:t>
            </a:r>
          </a:p>
          <a:p>
            <a:pPr algn="l"/>
            <a:endParaRPr lang="ru-RU" b="0" i="0" dirty="0"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</a:rPr>
              <a:t>Завязка (экспозиция + событие)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</a:rPr>
              <a:t>Столкновение (проблемы, препятствия)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</a:rPr>
              <a:t>Концовка (решение и результат)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effectLst/>
            </a:endParaRPr>
          </a:p>
          <a:p>
            <a:pPr algn="l"/>
            <a:r>
              <a:rPr lang="ru-RU" b="0" i="0" dirty="0">
                <a:effectLst/>
              </a:rPr>
              <a:t>Основа любой истории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64487E-06E7-A24E-931D-B81113C1EF98}"/>
              </a:ext>
            </a:extLst>
          </p:cNvPr>
          <p:cNvSpPr txBox="1"/>
          <p:nvPr/>
        </p:nvSpPr>
        <p:spPr>
          <a:xfrm>
            <a:off x="5657462" y="1591323"/>
            <a:ext cx="64378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effectLst/>
              </a:rPr>
              <a:t>Американские горки</a:t>
            </a:r>
          </a:p>
          <a:p>
            <a:pPr algn="l"/>
            <a:br>
              <a:rPr lang="ru-RU" b="0" i="0" dirty="0">
                <a:effectLst/>
              </a:rPr>
            </a:br>
            <a:r>
              <a:rPr lang="ru-RU" b="0" i="0" dirty="0">
                <a:effectLst/>
              </a:rPr>
              <a:t>Чередование:</a:t>
            </a:r>
            <a:br>
              <a:rPr lang="ru-RU" b="0" i="0" dirty="0">
                <a:effectLst/>
              </a:rPr>
            </a:br>
            <a:r>
              <a:rPr lang="ru-RU" b="0" i="0" dirty="0">
                <a:effectLst/>
              </a:rPr>
              <a:t>– взлетов</a:t>
            </a:r>
            <a:br>
              <a:rPr lang="ru-RU" b="0" i="0" dirty="0">
                <a:effectLst/>
              </a:rPr>
            </a:br>
            <a:r>
              <a:rPr lang="ru-RU" b="0" i="0" dirty="0">
                <a:effectLst/>
              </a:rPr>
              <a:t>– падений</a:t>
            </a:r>
          </a:p>
          <a:p>
            <a:pPr algn="l"/>
            <a:endParaRPr lang="ru-RU" b="0" i="0" dirty="0">
              <a:effectLst/>
            </a:endParaRPr>
          </a:p>
          <a:p>
            <a:pPr algn="l"/>
            <a:r>
              <a:rPr lang="ru-RU" b="0" i="0" dirty="0">
                <a:effectLst/>
              </a:rPr>
              <a:t>Каждое новое падение глубже предыдущего</a:t>
            </a:r>
            <a:br>
              <a:rPr lang="ru-RU" b="0" i="0" dirty="0">
                <a:effectLst/>
              </a:rPr>
            </a:br>
            <a:r>
              <a:rPr lang="ru-RU" b="0" i="0" dirty="0">
                <a:effectLst/>
              </a:rPr>
              <a:t>Создает напряжение и интерес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7D314D-03E5-F246-9FFB-20FFE67CBDE2}"/>
              </a:ext>
            </a:extLst>
          </p:cNvPr>
          <p:cNvSpPr txBox="1"/>
          <p:nvPr/>
        </p:nvSpPr>
        <p:spPr>
          <a:xfrm>
            <a:off x="3028811" y="4271440"/>
            <a:ext cx="55356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effectLst/>
              </a:rPr>
              <a:t>Путешествие героя</a:t>
            </a:r>
          </a:p>
          <a:p>
            <a:pPr algn="l"/>
            <a:br>
              <a:rPr lang="ru-RU" b="0" i="0" dirty="0">
                <a:effectLst/>
              </a:rPr>
            </a:br>
            <a:r>
              <a:rPr lang="ru-RU" b="0" i="0" dirty="0">
                <a:effectLst/>
              </a:rPr>
              <a:t>Расширенная структура истории:</a:t>
            </a:r>
            <a:br>
              <a:rPr lang="ru-RU" b="0" i="0" dirty="0">
                <a:effectLst/>
              </a:rPr>
            </a:br>
            <a:r>
              <a:rPr lang="ru-RU" b="0" i="0" dirty="0">
                <a:effectLst/>
              </a:rPr>
              <a:t>– герой → проблема → путь</a:t>
            </a:r>
            <a:br>
              <a:rPr lang="ru-RU" b="0" i="0" dirty="0">
                <a:effectLst/>
              </a:rPr>
            </a:br>
            <a:r>
              <a:rPr lang="ru-RU" b="0" i="0" dirty="0">
                <a:effectLst/>
              </a:rPr>
              <a:t>– испытания → кризис</a:t>
            </a:r>
            <a:br>
              <a:rPr lang="ru-RU" b="0" i="0" dirty="0">
                <a:effectLst/>
              </a:rPr>
            </a:br>
            <a:r>
              <a:rPr lang="ru-RU" b="0" i="0" dirty="0">
                <a:effectLst/>
              </a:rPr>
              <a:t>– победа → вывод</a:t>
            </a:r>
          </a:p>
          <a:p>
            <a:pPr algn="l"/>
            <a:r>
              <a:rPr lang="ru-RU" b="0" i="0" dirty="0">
                <a:effectLst/>
              </a:rPr>
              <a:t>Используется для более глубоких историй</a:t>
            </a:r>
          </a:p>
        </p:txBody>
      </p:sp>
    </p:spTree>
    <p:extLst>
      <p:ext uri="{BB962C8B-B14F-4D97-AF65-F5344CB8AC3E}">
        <p14:creationId xmlns:p14="http://schemas.microsoft.com/office/powerpoint/2010/main" val="103259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6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331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kern="1200" cap="none" spc="0" normalizeH="0" baseline="0" noProof="0" dirty="0" err="1">
                <a:ln>
                  <a:noFill/>
                </a:ln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Логлайны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15818B-CC24-D44F-9A99-E8BA751E0634}"/>
              </a:ext>
            </a:extLst>
          </p:cNvPr>
          <p:cNvSpPr txBox="1"/>
          <p:nvPr/>
        </p:nvSpPr>
        <p:spPr>
          <a:xfrm>
            <a:off x="130029" y="1691091"/>
            <a:ext cx="1179692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Студент учил английский 5 лет, но начал говорить только после смены подхода на практику.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Предприниматель терял клиентов из-за незнания языка, но после обучения вышел на международный рынок.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Девушка боялась говорить на английском, но преодолела страх и переехала за границу.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Онлайн-школа была создана после провала традиционных методов обучения.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Клиент бросил обучение, но вернулся и достиг результата благодаря новой методике.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Студент готовился к экзамену и не верил в успех, но сдал его благодаря системе обучения.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Преподаватель прошел путь от новичка до эксперта и создал собственную методику.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Человек пытался учить язык самостоятельно, но понял, что без системы результата не будет.</a:t>
            </a:r>
          </a:p>
        </p:txBody>
      </p:sp>
    </p:spTree>
    <p:extLst>
      <p:ext uri="{BB962C8B-B14F-4D97-AF65-F5344CB8AC3E}">
        <p14:creationId xmlns:p14="http://schemas.microsoft.com/office/powerpoint/2010/main" val="3650804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7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331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kern="1200" cap="none" spc="0" normalizeH="0" baseline="0" noProof="0" dirty="0">
                <a:ln>
                  <a:noFill/>
                </a:ln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Детализированная история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15818B-CC24-D44F-9A99-E8BA751E0634}"/>
              </a:ext>
            </a:extLst>
          </p:cNvPr>
          <p:cNvSpPr txBox="1"/>
          <p:nvPr/>
        </p:nvSpPr>
        <p:spPr>
          <a:xfrm>
            <a:off x="130029" y="1333904"/>
            <a:ext cx="1179692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effectLst/>
              </a:rPr>
              <a:t>История (онлайн-школа английского языка)</a:t>
            </a:r>
            <a:endParaRPr lang="ru-RU" b="0" i="0" dirty="0">
              <a:effectLst/>
            </a:endParaRPr>
          </a:p>
          <a:p>
            <a:pPr algn="l"/>
            <a:r>
              <a:rPr lang="ru-RU" b="0" i="0" dirty="0">
                <a:effectLst/>
              </a:rPr>
              <a:t>Он много лет учил английский: знал правила, выполнял упражнения, запоминал слова - но, когда дело доходило до реального разговора, не мог связать и пары предложений. Это казалось странным, пока однажды на работе не возникла ситуация, где нужно было срочно пообщаться с иностранным партнером - и он просто не справился.</a:t>
            </a:r>
          </a:p>
          <a:p>
            <a:pPr algn="l"/>
            <a:r>
              <a:rPr lang="ru-RU" b="0" i="0" dirty="0">
                <a:effectLst/>
              </a:rPr>
              <a:t>После этого он начал искать решение: записывался на курсы, пробовал разные методики, сначала чувствовал прогресс, потом снова откатывался назад, терял мотивацию и начинал заново. Каждый раз казалось, что вот он - правильный путь, но результата в виде свободной речи так и не было.</a:t>
            </a:r>
          </a:p>
          <a:p>
            <a:pPr algn="l"/>
            <a:r>
              <a:rPr lang="ru-RU" b="0" i="0" dirty="0">
                <a:effectLst/>
              </a:rPr>
              <a:t>Переломный момент наступил, когда он понял: проблема не в количестве знаний, а в отсутствии практики. Он начал делать упор на разговор - сначала с ошибками, неуверенно, но постепенно речь стала появляться.</a:t>
            </a:r>
          </a:p>
          <a:p>
            <a:pPr algn="l"/>
            <a:r>
              <a:rPr lang="ru-RU" b="0" i="0" dirty="0">
                <a:effectLst/>
              </a:rPr>
              <a:t>Осознав это, он решил проверить подход на других и запустил онлайн-школу. Сначала было сложно: не все ученики показывали результат, программу приходилось дорабатывать, но со временем система выстроилась.</a:t>
            </a:r>
          </a:p>
          <a:p>
            <a:pPr algn="l"/>
            <a:r>
              <a:rPr lang="ru-RU" b="0" i="0" dirty="0">
                <a:effectLst/>
              </a:rPr>
              <a:t>В итоге ученики начали говорить уже через несколько недель, а сам подход доказал свою эффективность.</a:t>
            </a:r>
          </a:p>
          <a:p>
            <a:pPr algn="l"/>
            <a:r>
              <a:rPr lang="ru-RU" b="1" i="0" dirty="0">
                <a:effectLst/>
              </a:rPr>
              <a:t>Главный вывод:</a:t>
            </a:r>
            <a:r>
              <a:rPr lang="ru-RU" b="0" i="0" dirty="0">
                <a:effectLst/>
              </a:rPr>
              <a:t> язык нельзя выучить, его можно только начать использовать - через практику, системность и работу с реальными задачами.</a:t>
            </a:r>
          </a:p>
          <a:p>
            <a:pPr algn="l"/>
            <a:endParaRPr lang="ru-RU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17503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8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331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kern="1200" cap="none" spc="0" normalizeH="0" baseline="0" noProof="0" dirty="0">
                <a:ln>
                  <a:noFill/>
                </a:ln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Подходы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9C5A07-2FB6-A740-AA9B-A26AE6E0E00F}"/>
              </a:ext>
            </a:extLst>
          </p:cNvPr>
          <p:cNvSpPr txBox="1"/>
          <p:nvPr/>
        </p:nvSpPr>
        <p:spPr>
          <a:xfrm>
            <a:off x="130029" y="1817638"/>
            <a:ext cx="99283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Трехактная структура</a:t>
            </a:r>
            <a:r>
              <a:rPr lang="ru-RU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проблема → поиск решений → результат</a:t>
            </a:r>
            <a:endParaRPr lang="en-US" b="0" i="0" u="none" strike="noStrike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b="0" i="0" u="none" strike="noStrike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Американские горки</a:t>
            </a:r>
            <a:r>
              <a:rPr lang="ru-RU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чередование прогресса и неудач</a:t>
            </a:r>
            <a:endParaRPr lang="en-US" b="0" i="0" u="none" strike="noStrike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Путешествие героя</a:t>
            </a:r>
            <a:r>
              <a:rPr lang="ru-RU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путь от проблемы к созданию продукта</a:t>
            </a:r>
            <a:endParaRPr lang="en-US" b="0" i="0" u="none" strike="noStrike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Бизнес-</a:t>
            </a:r>
            <a:r>
              <a:rPr lang="ru-RU" b="1" i="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сторителлинг</a:t>
            </a:r>
            <a:r>
              <a:rPr lang="ru-RU" b="0" i="0" u="none" strike="noStrike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демонстрация ценности продукта через личный опыт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223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Google Shape;139;p8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0" name="Google Shape;140;p8"/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1434420" y="2951946"/>
            <a:ext cx="965487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Спасибо за внимание!</a:t>
            </a:r>
            <a:endParaRPr dirty="0"/>
          </a:p>
        </p:txBody>
      </p:sp>
      <p:sp>
        <p:nvSpPr>
          <p:cNvPr id="142" name="Google Shape;142;p8"/>
          <p:cNvSpPr txBox="1"/>
          <p:nvPr/>
        </p:nvSpPr>
        <p:spPr>
          <a:xfrm>
            <a:off x="4274728" y="713847"/>
            <a:ext cx="8124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/>
              <a:t>Реклама в Интернет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 направлению 09.03.01 Информатика и вычислительная техника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Образовательная программа (профиль) «Веб-технологии»</a:t>
            </a: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4F5034-139C-0D40-B099-E0B7422C96EF}"/>
              </a:ext>
            </a:extLst>
          </p:cNvPr>
          <p:cNvSpPr txBox="1"/>
          <p:nvPr/>
        </p:nvSpPr>
        <p:spPr>
          <a:xfrm>
            <a:off x="6261858" y="4341961"/>
            <a:ext cx="55850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Студенты: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Андронов Денис Андреевич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Волков Никита Игоревич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Роганов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Михаил Романович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Каргинов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Тамерлан </a:t>
            </a: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Урузмагович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, группа 241-3210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Преподаватели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: Смирнова Ю.В.</a:t>
            </a:r>
            <a:r>
              <a:rPr lang="ru-RU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Кулибаба</a:t>
            </a:r>
            <a:r>
              <a:rPr lang="ru-RU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И.В.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олитех" id="{706195B2-3338-754E-B596-794E89AA9D73}" vid="{BB8C50E2-D7A2-124C-B4D7-CE11DEE1589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Тема2</Template>
  <TotalTime>60</TotalTime>
  <Words>668</Words>
  <Application>Microsoft Macintosh PowerPoint</Application>
  <PresentationFormat>Широкоэкранный</PresentationFormat>
  <Paragraphs>122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Verdana </vt:lpstr>
      <vt:lpstr>Calibri</vt:lpstr>
      <vt:lpstr>Gilroy Bold</vt:lpstr>
      <vt:lpstr>Arial</vt:lpstr>
      <vt:lpstr>Gilroy Medium</vt:lpstr>
      <vt:lpstr>Verdana</vt:lpstr>
      <vt:lpstr>Тема2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Мария Булытова</dc:creator>
  <cp:lastModifiedBy>Microsoft Office User</cp:lastModifiedBy>
  <cp:revision>3</cp:revision>
  <dcterms:created xsi:type="dcterms:W3CDTF">2026-04-09T09:51:26Z</dcterms:created>
  <dcterms:modified xsi:type="dcterms:W3CDTF">2026-05-02T12:17:38Z</dcterms:modified>
</cp:coreProperties>
</file>