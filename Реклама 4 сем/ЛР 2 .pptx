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59" r:id="rId3"/>
    <p:sldId id="281" r:id="rId4"/>
    <p:sldId id="260" r:id="rId5"/>
    <p:sldId id="264" r:id="rId6"/>
    <p:sldId id="275" r:id="rId7"/>
    <p:sldId id="274" r:id="rId8"/>
    <p:sldId id="276" r:id="rId9"/>
    <p:sldId id="277" r:id="rId10"/>
    <p:sldId id="278" r:id="rId11"/>
    <p:sldId id="279" r:id="rId12"/>
    <p:sldId id="272" r:id="rId13"/>
    <p:sldId id="28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5" autoAdjust="0"/>
    <p:restoredTop sz="94686"/>
  </p:normalViewPr>
  <p:slideViewPr>
    <p:cSldViewPr snapToGrid="0">
      <p:cViewPr varScale="1">
        <p:scale>
          <a:sx n="101" d="100"/>
          <a:sy n="101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978B-BA54-41D6-9AE7-9B3A7517D0C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D1FD4-4766-42C6-94DB-42A85ECA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7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04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E8DD6D0-6C80-EBCC-A313-F2282312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5129048E-8C72-71B1-51E4-C2C23EA25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545B3599-A641-78B4-2584-BE37A0B43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3881E5B5-FB88-3258-B62F-0E55E95274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7602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0393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070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692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489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2409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6227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91A3817-41C0-FDDA-64EC-1EB235B8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378B33BA-0533-DEA8-BFE7-83D437804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A16FC8B5-43DB-2B25-44E3-D5359B61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9432628-2B8A-72A7-727F-F8B2BB6CC2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301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61B6F4E-27DF-0770-19D1-EBBF465A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0D693956-DA4E-006E-A649-2F53B6940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6147022E-8CCA-7B11-707D-BB86795AF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6F882144-857C-8DF6-7E2E-9A6BCED88C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5747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77F77-6D5B-C324-43C1-375C155D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4FC5C0-1F70-C7F6-C996-D8F15CA5A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F12F6C-1831-4CF5-87AC-6A15E3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A2D3C-68A0-E54F-CA43-17ECD09A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E84039-6357-3382-E2E8-4423A225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914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F710B-A1D1-D261-C8FC-A1578631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A8076E-BB9E-B753-3827-A5BB2797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ECE2E2-126D-D6CE-A1E3-40923287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3B8C5A-1808-367A-145F-F7C75E32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EB0803-F1B4-8E26-581F-30B3B855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08129-BB7B-0B8B-5C70-C953D378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CE7341-F3F5-6F69-84BC-08A96DD76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9EB779-27A7-6CA1-6ED3-04F5A078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2ED79F-4E38-405B-74DA-35AA321A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3AF0EB-2F15-2061-0C68-EB749764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3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6121-6EC2-868B-2111-D057E530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BCCA02-B536-4D39-EB40-3B360911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43B0C4-7DAA-9E99-F491-03FA355DF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B0B5C1-FEC4-0E11-6965-3EE6FA09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C5C49C-C0EA-994B-5050-F9488DED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E931AB-9593-9E1E-80B6-5555E56C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84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5C7B-150E-4F2F-DBD2-1974F9DD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3B6F8-892B-FEDA-C31D-38C4175D5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CAC260-4822-7ECC-9691-BCCFEE880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BF87BD2-4450-081B-E3EC-A0D2C71B9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58AFE1-F65D-1A78-EF72-AFA282A5C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EC6726-E2D4-49B7-90FE-DF815740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86EB1F3-6231-1C95-688D-B4819ED2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6FCAC0-D9DC-2BFF-829D-73192A5E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7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0D7A0-0CEE-CD2E-D63D-63E3C670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3EE0D-FE11-2FB3-2E22-AF7161B64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4C2D61-E16B-B54C-7B6B-E81A3F1E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3A353F-E45A-FB7C-377E-C706EA5A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10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CE119C-B3E2-4171-B77E-CCE61582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9D4BCF-4DC3-5636-9A8B-A3487E22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23B85-89AC-6268-579A-13354FE2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2C724-2BA7-5C4F-7211-89A4E872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024736-0441-FDE5-64CE-B162F9204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914219-E750-B978-9C49-B51B69A5C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22D324-FB70-98AD-B0F7-3D962C95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D16DA8-FE7A-5881-AD1A-95019014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22E14-10A8-EB0E-2C39-828CDC29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39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9CEB5-4B1C-27AF-85DC-E92EFE1D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7F1C82-1B71-2B32-64D9-AA7A6D1B9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EE1D48-95DC-5F61-91C1-FB1A61392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727E59-A3BB-1FE0-D999-044FFE22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0C7834-86EB-7EBA-44D9-D9B60A78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B63019-DFA1-85BA-DB38-CCFFE475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16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3F781-05EF-0B50-AC6B-EBA38A6A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49FCDC-99DA-8FD2-6A49-8D82F436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D41557-2610-4298-E82C-0225EDC7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33C1A2-F866-0D13-1350-D4E982AF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6F97D8-8F72-D080-259D-FBE0774E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45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B57FF2-7E83-1944-B71B-D97469121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B6523A-31B0-FEF8-A36F-079EDC5A3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F84D71-E41A-DB6E-E5CE-07604A6E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A1F4EB-6004-3796-BB1D-C251A26B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DEF4A4-F48B-E622-BCEC-F5CF4A40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2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39E4A-6C5F-D32A-AD5F-9B55C038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C5F642-4CB0-8325-CE7F-3A8095A39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0432C7-D250-3A80-C8A7-6EA01FD7B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CA5C9-2C1D-4CB0-BD04-2034725EBE48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CC136C-BEAC-A1F7-7DF5-D3A6D04CA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3CACCF-1340-CFB9-6E52-B92447760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5503A-F6F5-40D2-B34C-9DE81E7E5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48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71129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prstClr val="black"/>
                </a:solidFill>
                <a:latin typeface="Gilroy Bold" panose="00000800000000000000" charset="-52"/>
              </a:rPr>
              <a:t>Реклама в интернете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sz="1800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sz="1800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951946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Реклама в интернете</a:t>
            </a:r>
          </a:p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Лабораторная работа №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2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6454588" y="4207490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EAA10-D2DC-D97B-C285-9CC1BCEABE5F}"/>
              </a:ext>
            </a:extLst>
          </p:cNvPr>
          <p:cNvSpPr txBox="1"/>
          <p:nvPr/>
        </p:nvSpPr>
        <p:spPr>
          <a:xfrm>
            <a:off x="457200" y="33246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Цель работы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D6B2F-D076-7249-A515-54A379C159A7}"/>
              </a:ext>
            </a:extLst>
          </p:cNvPr>
          <p:cNvSpPr txBox="1"/>
          <p:nvPr/>
        </p:nvSpPr>
        <p:spPr>
          <a:xfrm>
            <a:off x="457200" y="163800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Изучение правил и особенностей создания тем и идей для тематического плана.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Освоение методик генерации идей для формирования разнообразного контент-плана.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42443" y="1249696"/>
            <a:ext cx="4800771" cy="494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sz="2000" b="1" i="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Комьюнити</a:t>
            </a:r>
            <a:r>
              <a:rPr lang="ru-RU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-менеджмент</a:t>
            </a:r>
            <a: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— это долгосрочная работа с аудиторией.</a:t>
            </a:r>
            <a:b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Контент должен быть разнообразным, интересным и полезным.</a:t>
            </a:r>
            <a:endParaRPr lang="en-US" sz="20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sz="20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этого используются:</a:t>
            </a:r>
            <a:endParaRPr lang="en-US" sz="2000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sz="20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классические методики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креативные методики</a:t>
            </a:r>
            <a:endParaRPr lang="en-US" sz="20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sz="20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Цель</a:t>
            </a:r>
            <a:r>
              <a:rPr lang="ru-RU" sz="20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— удержание внимания и формирование доверия к бренду.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EAA10-D2DC-D97B-C285-9CC1BCEABE5F}"/>
              </a:ext>
            </a:extLst>
          </p:cNvPr>
          <p:cNvSpPr txBox="1"/>
          <p:nvPr/>
        </p:nvSpPr>
        <p:spPr>
          <a:xfrm>
            <a:off x="442443" y="33246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Комьюнити менеджмент</a:t>
            </a:r>
            <a:endParaRPr lang="ru-RU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Picture 2" descr="Комьюнити-менеджмент - Современные технологии управления">
            <a:extLst>
              <a:ext uri="{FF2B5EF4-FFF2-40B4-BE49-F238E27FC236}">
                <a16:creationId xmlns:a16="http://schemas.microsoft.com/office/drawing/2014/main" id="{16B3C2E3-83D6-A24F-A86F-B0B5A87EA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214" y="1589504"/>
            <a:ext cx="6319537" cy="381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87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17E94C70-E338-3CCE-AB48-74F6A84D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2FB710A5-5F7F-9B3A-B1C9-A51FB1E3D20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443F347B-0759-0BBF-F9DB-411CC967E5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7907A7B8-D8B1-A8D7-62D0-370E0833845E}"/>
              </a:ext>
            </a:extLst>
          </p:cNvPr>
          <p:cNvSpPr txBox="1"/>
          <p:nvPr/>
        </p:nvSpPr>
        <p:spPr>
          <a:xfrm>
            <a:off x="457200" y="1820358"/>
            <a:ext cx="4896678" cy="341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Качественный контен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Разнообразие тем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Адаптация под аудиторию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Использование креативных методик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Регулярность публикаций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000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Работа с болями и задачами ЦА</a:t>
            </a:r>
            <a:endParaRPr lang="ru-RU" sz="200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EE8F4-9927-478E-AE46-62EA8756E8DE}"/>
              </a:ext>
            </a:extLst>
          </p:cNvPr>
          <p:cNvSpPr txBox="1"/>
          <p:nvPr/>
        </p:nvSpPr>
        <p:spPr>
          <a:xfrm>
            <a:off x="457200" y="325404"/>
            <a:ext cx="12152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</a:t>
            </a:r>
            <a:r>
              <a:rPr lang="ru-RU" sz="3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сновные принципы вовлечения аудитории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 descr="Что такое вовлеченность аудитории (ER, Engagement Rate)">
            <a:extLst>
              <a:ext uri="{FF2B5EF4-FFF2-40B4-BE49-F238E27FC236}">
                <a16:creationId xmlns:a16="http://schemas.microsoft.com/office/drawing/2014/main" id="{16D8D638-EBC3-994B-8C78-3A77611C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914" y="2035865"/>
            <a:ext cx="5307181" cy="278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2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AB32F1-4A28-314C-ACF5-2C9A02D73920}"/>
              </a:ext>
            </a:extLst>
          </p:cNvPr>
          <p:cNvSpPr txBox="1"/>
          <p:nvPr/>
        </p:nvSpPr>
        <p:spPr>
          <a:xfrm>
            <a:off x="530941" y="1275665"/>
            <a:ext cx="10945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основан на глубоком анализе целевой аудитории.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Используются данные </a:t>
            </a:r>
            <a:r>
              <a:rPr lang="ru-RU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аватара</a:t>
            </a: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боли, страхи, цели, мотивация, возражения.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каждый пункт </a:t>
            </a:r>
            <a:r>
              <a:rPr lang="ru-RU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аватара</a:t>
            </a: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превращается в тему контента.</a:t>
            </a:r>
          </a:p>
        </p:txBody>
      </p:sp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457200" y="3525077"/>
            <a:ext cx="8799886" cy="283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«Почему ты до сих пор не говоришь на английском?»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«5 причин, почему ты боишься разговаривать — и как это исправить»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 сдать экзамен по английскому без стресса»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«Почему самообучение не работает и что с этим делать»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1" y="196353"/>
            <a:ext cx="727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1: По </a:t>
            </a:r>
            <a:r>
              <a:rPr lang="ru-RU" sz="3200" b="1" i="0" u="none" strike="noStrike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аватару</a:t>
            </a: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клиента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79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F12A72-48F4-784A-A790-2A479EF87079}"/>
              </a:ext>
            </a:extLst>
          </p:cNvPr>
          <p:cNvSpPr txBox="1"/>
          <p:nvPr/>
        </p:nvSpPr>
        <p:spPr>
          <a:xfrm>
            <a:off x="530940" y="991138"/>
            <a:ext cx="1013705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строится на вопросах клиента.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контент отвечает на типовые вопросы аудитории.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Типы потребностей: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продуктовые (что это?)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сервисные (как проходит обучение?)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ценовые (сколько стоит?)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сравнительные (чем лучше других?)</a:t>
            </a:r>
          </a:p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Каждый вопрос = отдельная тема.</a:t>
            </a:r>
          </a:p>
        </p:txBody>
      </p:sp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530940" y="4130459"/>
            <a:ext cx="8799886" cy="256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«Сколько реально нужно времени, чтобы выучить английский?»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 выбрать онлайн-курс и не слить деньги»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«Разговорный английский: с чего начать»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«Какие ошибки мешают выучить язык быстрее»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0" y="196353"/>
            <a:ext cx="9997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2: По карте потребностей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94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530941" y="4032164"/>
            <a:ext cx="8799886" cy="244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«Типичные ошибки при изучении английского»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«Сравнение: онлайн-курсы </a:t>
            </a:r>
            <a:r>
              <a:rPr lang="en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самостоятельное обучение»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«Кейс: как студент выучил язык за 6 месяцев»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Лайфхаки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для быстрого запоминания слов»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1" y="196353"/>
            <a:ext cx="727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3: По шаблону 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610B3-0CB0-DA41-A998-F21C7E7C562A}"/>
              </a:ext>
            </a:extLst>
          </p:cNvPr>
          <p:cNvSpPr txBox="1"/>
          <p:nvPr/>
        </p:nvSpPr>
        <p:spPr>
          <a:xfrm>
            <a:off x="457199" y="913930"/>
            <a:ext cx="111232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использует готовый список форматов контента (102 темы).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 придумывать идеи с нуля, а брать проверенные форматы: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кейсы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сравнения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инструкции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отзывы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подборки</a:t>
            </a:r>
          </a:p>
        </p:txBody>
      </p:sp>
    </p:spTree>
    <p:extLst>
      <p:ext uri="{BB962C8B-B14F-4D97-AF65-F5344CB8AC3E}">
        <p14:creationId xmlns:p14="http://schemas.microsoft.com/office/powerpoint/2010/main" val="89546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457199" y="4216948"/>
            <a:ext cx="8799886" cy="244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«Английский как спорт: почему без практики нет результата»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«Почему изучение языка похоже на игру»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«Английский = инвестиция: как он увеличивает доход»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«Если бы английский был приложением — как бы он работал»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0" y="196353"/>
            <a:ext cx="88924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4: Латеральное мышление 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0D0F3-2BE9-6B47-AE07-171EBE9E6993}"/>
              </a:ext>
            </a:extLst>
          </p:cNvPr>
          <p:cNvSpPr txBox="1"/>
          <p:nvPr/>
        </p:nvSpPr>
        <p:spPr>
          <a:xfrm>
            <a:off x="3049030" y="287826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6798E-9A98-FC4F-8D17-5C4DE8A76193}"/>
              </a:ext>
            </a:extLst>
          </p:cNvPr>
          <p:cNvSpPr txBox="1"/>
          <p:nvPr/>
        </p:nvSpPr>
        <p:spPr>
          <a:xfrm>
            <a:off x="457199" y="1025083"/>
            <a:ext cx="111232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генерации нестандартных идей через неожиданные ассоциации.</a:t>
            </a:r>
            <a:endParaRPr lang="en-US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посмотреть на продукт под новым углом.</a:t>
            </a:r>
            <a:endParaRPr lang="en-US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Основные приемы: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случайные ассоциации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простое + сложное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сложное + простое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сложное + сложное</a:t>
            </a:r>
          </a:p>
        </p:txBody>
      </p:sp>
    </p:spTree>
    <p:extLst>
      <p:ext uri="{BB962C8B-B14F-4D97-AF65-F5344CB8AC3E}">
        <p14:creationId xmlns:p14="http://schemas.microsoft.com/office/powerpoint/2010/main" val="287950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</a:t>
            </a:fld>
            <a:endParaRPr sz="32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530941" y="4032164"/>
            <a:ext cx="8799886" cy="244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«Сколько реально нужно времени, чтобы выучить английский?»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 выбрать онлайн-курс и не слить деньги»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«Разговорный английский: с чего начать»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«Какие ошибки мешают выучить язык быстрее»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1" y="196353"/>
            <a:ext cx="727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5: Шесть шляп 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0D0F3-2BE9-6B47-AE07-171EBE9E6993}"/>
              </a:ext>
            </a:extLst>
          </p:cNvPr>
          <p:cNvSpPr txBox="1"/>
          <p:nvPr/>
        </p:nvSpPr>
        <p:spPr>
          <a:xfrm>
            <a:off x="3049030" y="287826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E693A-8126-CA4E-A6B9-5D6FDF44668F}"/>
              </a:ext>
            </a:extLst>
          </p:cNvPr>
          <p:cNvSpPr txBox="1"/>
          <p:nvPr/>
        </p:nvSpPr>
        <p:spPr>
          <a:xfrm>
            <a:off x="492260" y="117224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смены точек зрения на проблему.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мы по очереди «примеряем» разные роли: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белая — логика, факты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красная — эмоции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черная — критика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желтая — позитив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зеленая — креатив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синяя — анализ</a:t>
            </a:r>
          </a:p>
        </p:txBody>
      </p:sp>
    </p:spTree>
    <p:extLst>
      <p:ext uri="{BB962C8B-B14F-4D97-AF65-F5344CB8AC3E}">
        <p14:creationId xmlns:p14="http://schemas.microsoft.com/office/powerpoint/2010/main" val="436586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01400" y="6171414"/>
            <a:ext cx="789017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fld>
            <a:endParaRPr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530941" y="4032164"/>
            <a:ext cx="8799886" cy="244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«Можно ли выучить английский за 3 месяца?»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будет, если учить язык каждый день по 15 минут»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убрать, чтобы учиться быстрее»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«Как изменить подход к изучению языка»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0" y="196353"/>
            <a:ext cx="8193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6: Контрольные вопросы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0D0F3-2BE9-6B47-AE07-171EBE9E6993}"/>
              </a:ext>
            </a:extLst>
          </p:cNvPr>
          <p:cNvSpPr txBox="1"/>
          <p:nvPr/>
        </p:nvSpPr>
        <p:spPr>
          <a:xfrm>
            <a:off x="3051088" y="273438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CC86C-64A5-864C-B465-E550C472014E}"/>
              </a:ext>
            </a:extLst>
          </p:cNvPr>
          <p:cNvSpPr txBox="1"/>
          <p:nvPr/>
        </p:nvSpPr>
        <p:spPr>
          <a:xfrm>
            <a:off x="457200" y="105455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генерации идей через системные вопросы к продукту.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мы «мучаем» идею вопросами: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изменить?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увеличить/уменьшить?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заменить?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объединить?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сделать наоборот?</a:t>
            </a:r>
          </a:p>
        </p:txBody>
      </p:sp>
    </p:spTree>
    <p:extLst>
      <p:ext uri="{BB962C8B-B14F-4D97-AF65-F5344CB8AC3E}">
        <p14:creationId xmlns:p14="http://schemas.microsoft.com/office/powerpoint/2010/main" val="239804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3D731DDB-9392-B8EE-B150-F5AC7DA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0D74A5A3-9CE4-9845-FF67-8B36777CE9C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9885C07-62FB-0044-9F97-1EE523B6B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36301" y="6171414"/>
            <a:ext cx="954116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</a:t>
            </a:fld>
            <a:endParaRPr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FE7C4D97-0940-AEA8-DF88-910430513A27}"/>
              </a:ext>
            </a:extLst>
          </p:cNvPr>
          <p:cNvSpPr txBox="1"/>
          <p:nvPr/>
        </p:nvSpPr>
        <p:spPr>
          <a:xfrm>
            <a:off x="457200" y="3909581"/>
            <a:ext cx="8799886" cy="256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если английский — это не навык, а стиль жизни?»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если учить язык через сериалы?»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если забыть грамматику и начать говорить сразу?»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«Что если обучение может быть интересным?»</a:t>
            </a:r>
            <a:endParaRPr lang="ru-RU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772B6-4EEA-2BF3-1E7E-CB9EDEFEA190}"/>
              </a:ext>
            </a:extLst>
          </p:cNvPr>
          <p:cNvSpPr txBox="1"/>
          <p:nvPr/>
        </p:nvSpPr>
        <p:spPr>
          <a:xfrm>
            <a:off x="530941" y="196353"/>
            <a:ext cx="727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7: Что если…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AE88A-421C-3741-A399-8F3E916B5AB8}"/>
              </a:ext>
            </a:extLst>
          </p:cNvPr>
          <p:cNvSpPr txBox="1"/>
          <p:nvPr/>
        </p:nvSpPr>
        <p:spPr>
          <a:xfrm>
            <a:off x="457200" y="107762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построен на гипотезах и переосмыслении стратегии.</a:t>
            </a: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Суть:</a:t>
            </a:r>
            <a:b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задаем провокационные вопросы: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если изменить позиционирование?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если выйти в другую нишу?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если отказаться от конкуренции?</a:t>
            </a:r>
          </a:p>
        </p:txBody>
      </p:sp>
    </p:spTree>
    <p:extLst>
      <p:ext uri="{BB962C8B-B14F-4D97-AF65-F5344CB8AC3E}">
        <p14:creationId xmlns:p14="http://schemas.microsoft.com/office/powerpoint/2010/main" val="102877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58C65F6B-77C7-07AD-C731-3DB31AAB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625CE9EF-0248-29DA-CFE7-0E11937B7F0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19E6C822-0233-AAB6-05C6-80AB6854A8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50601" y="6171414"/>
            <a:ext cx="839816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</a:t>
            </a:fld>
            <a:endParaRPr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D50B5-E86E-9FD2-FA43-2FC8666302DE}"/>
              </a:ext>
            </a:extLst>
          </p:cNvPr>
          <p:cNvSpPr txBox="1"/>
          <p:nvPr/>
        </p:nvSpPr>
        <p:spPr>
          <a:xfrm>
            <a:off x="530941" y="196353"/>
            <a:ext cx="10943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Вывод</a:t>
            </a:r>
            <a:endParaRPr lang="ru-RU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08DA9-7233-0B42-83D0-712596B15B8B}"/>
              </a:ext>
            </a:extLst>
          </p:cNvPr>
          <p:cNvSpPr txBox="1"/>
          <p:nvPr/>
        </p:nvSpPr>
        <p:spPr>
          <a:xfrm>
            <a:off x="534373" y="913611"/>
            <a:ext cx="111232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работе изучены основные и креативные методики генерации идей для контент-плана.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Показано, что эффективный контент строится на анализе целевой аудитории, ее потребностей и использовании готовых шаблонов.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Креативные методы позволяют находить нестандартные идеи и делать контент более разнообразным.</a:t>
            </a:r>
          </a:p>
          <a:p>
            <a:pPr algn="l"/>
            <a:r>
              <a:rPr lang="ru-RU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результате разработано 30 тем, что подтверждает практическую эффективность подхода.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Вывод: системное применение методик позволяет создавать качественный и ориентированный на клиента контент.</a:t>
            </a:r>
          </a:p>
        </p:txBody>
      </p:sp>
    </p:spTree>
    <p:extLst>
      <p:ext uri="{BB962C8B-B14F-4D97-AF65-F5344CB8AC3E}">
        <p14:creationId xmlns:p14="http://schemas.microsoft.com/office/powerpoint/2010/main" val="241650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8"/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434420" y="2951946"/>
            <a:ext cx="96548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dirty="0"/>
          </a:p>
        </p:txBody>
      </p:sp>
      <p:sp>
        <p:nvSpPr>
          <p:cNvPr id="142" name="Google Shape;142;p8"/>
          <p:cNvSpPr txBox="1"/>
          <p:nvPr/>
        </p:nvSpPr>
        <p:spPr>
          <a:xfrm>
            <a:off x="4274728" y="713847"/>
            <a:ext cx="812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/>
              <a:t>Реклама в Интернет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направлению 09.03.01 Информатика и вычислительная техника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(профиль) «Веб-технологии»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F5034-139C-0D40-B099-E0B7422C96EF}"/>
              </a:ext>
            </a:extLst>
          </p:cNvPr>
          <p:cNvSpPr txBox="1"/>
          <p:nvPr/>
        </p:nvSpPr>
        <p:spPr>
          <a:xfrm>
            <a:off x="6261858" y="4341961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840</Words>
  <Application>Microsoft Macintosh PowerPoint</Application>
  <PresentationFormat>Широкоэкранный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Gilroy Bold</vt:lpstr>
      <vt:lpstr>Gilroy Medium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Тимофей Назаров</dc:creator>
  <cp:lastModifiedBy>Microsoft Office User</cp:lastModifiedBy>
  <cp:revision>6</cp:revision>
  <dcterms:created xsi:type="dcterms:W3CDTF">2025-04-22T20:35:03Z</dcterms:created>
  <dcterms:modified xsi:type="dcterms:W3CDTF">2026-05-02T12:18:58Z</dcterms:modified>
</cp:coreProperties>
</file>