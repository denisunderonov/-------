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1"/>
  </p:notes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58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Gilroy Bold" panose="020B0803050000020004" pitchFamily="34" charset="0"/>
      <p:bold r:id="rId16"/>
    </p:embeddedFont>
    <p:embeddedFont>
      <p:font typeface="Gilroy Medium" panose="020B0503050000020004" pitchFamily="34" charset="0"/>
      <p:regular r:id="rId17"/>
    </p:embeddedFont>
    <p:embeddedFont>
      <p:font typeface="Verdana" panose="020B0604030504040204" pitchFamily="34" charset="0"/>
      <p:regular r:id="rId17"/>
      <p:bold r:id="rId17"/>
      <p:italic r:id="rId17"/>
      <p:boldItalic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0" autoAdjust="0"/>
    <p:restoredTop sz="95690"/>
  </p:normalViewPr>
  <p:slideViewPr>
    <p:cSldViewPr snapToGrid="0">
      <p:cViewPr varScale="1">
        <p:scale>
          <a:sx n="98" d="100"/>
          <a:sy n="98" d="100"/>
        </p:scale>
        <p:origin x="224" y="3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804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9144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457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165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499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73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9848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24.04.2026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24.04.2026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24.04.2026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24.04.2026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24.04.2026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24.04.2026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24.04.2026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24.04.2026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5292046" y="5773087"/>
            <a:ext cx="6480854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Gilroy Medium" panose="00000600000000000000" charset="-52"/>
              </a:rPr>
              <a:t>S</a:t>
            </a:r>
            <a:r>
              <a:rPr lang="en-US" sz="1800" dirty="0" err="1">
                <a:latin typeface="Gilroy Medium" panose="00000600000000000000" charset="-52"/>
              </a:rPr>
              <a:t>tudent</a:t>
            </a:r>
            <a:r>
              <a:rPr lang="en-US" sz="1800" dirty="0">
                <a:latin typeface="Gilroy Medium" panose="00000600000000000000" charset="-52"/>
              </a:rPr>
              <a:t>: </a:t>
            </a:r>
            <a:r>
              <a:rPr lang="en-US" sz="1800" dirty="0" err="1">
                <a:latin typeface="Gilroy Medium" panose="00000600000000000000" charset="-52"/>
              </a:rPr>
              <a:t>Andronov</a:t>
            </a:r>
            <a:r>
              <a:rPr lang="en-US" sz="1800" dirty="0">
                <a:latin typeface="Gilroy Medium" panose="00000600000000000000" charset="-52"/>
              </a:rPr>
              <a:t> Denis </a:t>
            </a:r>
            <a:r>
              <a:rPr lang="en-US" sz="1800" dirty="0" err="1">
                <a:latin typeface="Gilroy Medium" panose="00000600000000000000" charset="-52"/>
              </a:rPr>
              <a:t>Andreevich</a:t>
            </a:r>
            <a:r>
              <a:rPr lang="en-US" sz="1800" dirty="0">
                <a:latin typeface="Gilroy Medium" panose="00000600000000000000" charset="-52"/>
              </a:rPr>
              <a:t> 241-3210</a:t>
            </a:r>
            <a:endParaRPr lang="ru-RU" sz="1800" dirty="0">
              <a:latin typeface="Gilroy Medium" panose="0000060000000000000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CFC3E-423E-514A-B0DE-BBE85F5B19FC}"/>
              </a:ext>
            </a:extLst>
          </p:cNvPr>
          <p:cNvSpPr txBox="1"/>
          <p:nvPr/>
        </p:nvSpPr>
        <p:spPr>
          <a:xfrm>
            <a:off x="3464029" y="2883346"/>
            <a:ext cx="52639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3200" dirty="0"/>
              <a:t>Metadata: The Hidden Layer of the Internet</a:t>
            </a:r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5A2C88-4154-A248-9510-05E1D58BB6F1}"/>
              </a:ext>
            </a:extLst>
          </p:cNvPr>
          <p:cNvSpPr txBox="1"/>
          <p:nvPr/>
        </p:nvSpPr>
        <p:spPr>
          <a:xfrm>
            <a:off x="7487956" y="678018"/>
            <a:ext cx="2089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Introduction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2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2000" dirty="0"/>
              <a:t>What is metadata?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741A88-001A-0B4E-B7A0-E67B2CFED8ED}"/>
              </a:ext>
            </a:extLst>
          </p:cNvPr>
          <p:cNvSpPr txBox="1"/>
          <p:nvPr/>
        </p:nvSpPr>
        <p:spPr>
          <a:xfrm>
            <a:off x="130029" y="2411998"/>
            <a:ext cx="53694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/>
              <a:t>Metadata</a:t>
            </a:r>
            <a:r>
              <a:rPr lang="en" dirty="0"/>
              <a:t> is data that describes other data.</a:t>
            </a:r>
          </a:p>
          <a:p>
            <a:r>
              <a:rPr lang="en" dirty="0"/>
              <a:t>In simple terms:</a:t>
            </a:r>
          </a:p>
          <a:p>
            <a:endParaRPr lang="en" dirty="0"/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it is “information about information”</a:t>
            </a:r>
          </a:p>
          <a:p>
            <a:endParaRPr lang="en" dirty="0"/>
          </a:p>
          <a:p>
            <a:r>
              <a:rPr lang="en" b="1" dirty="0"/>
              <a:t>Examples: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dirty="0"/>
              <a:t>file creation date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dirty="0"/>
              <a:t>document author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dirty="0"/>
              <a:t>image size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dirty="0"/>
              <a:t>photo location (GPS)</a:t>
            </a:r>
          </a:p>
        </p:txBody>
      </p:sp>
      <p:pic>
        <p:nvPicPr>
          <p:cNvPr id="1026" name="Picture 2" descr="Data vs Metadata - do you know the difference? - Dataedo Blog">
            <a:extLst>
              <a:ext uri="{FF2B5EF4-FFF2-40B4-BE49-F238E27FC236}">
                <a16:creationId xmlns:a16="http://schemas.microsoft.com/office/drawing/2014/main" id="{84B2EAAD-7CF2-0D45-9FBF-0B706E3A9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466" y="2411998"/>
            <a:ext cx="6094484" cy="286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767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3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2000" dirty="0"/>
              <a:t>Simple example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6EF74-9EEB-4549-AE00-8763623C7D3A}"/>
              </a:ext>
            </a:extLst>
          </p:cNvPr>
          <p:cNvSpPr txBox="1"/>
          <p:nvPr/>
        </p:nvSpPr>
        <p:spPr>
          <a:xfrm>
            <a:off x="130029" y="2487861"/>
            <a:ext cx="61330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/>
              <a:t>A photo on your phone:</a:t>
            </a:r>
            <a:endParaRPr lang="ru-RU" b="1" dirty="0"/>
          </a:p>
          <a:p>
            <a:endParaRPr lang="e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the image itself → data</a:t>
            </a:r>
            <a:endParaRPr lang="ru-RU" dirty="0"/>
          </a:p>
          <a:p>
            <a:endParaRPr lang="en" dirty="0"/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date, location, camera model → metadata</a:t>
            </a:r>
            <a:endParaRPr lang="ru-RU" dirty="0"/>
          </a:p>
          <a:p>
            <a:endParaRPr lang="en" dirty="0"/>
          </a:p>
          <a:p>
            <a:r>
              <a:rPr lang="en" dirty="0"/>
              <a:t>You see the picture, but the system “sees” much more behind it</a:t>
            </a:r>
          </a:p>
        </p:txBody>
      </p:sp>
      <p:pic>
        <p:nvPicPr>
          <p:cNvPr id="2050" name="Picture 2" descr="Метаданные">
            <a:extLst>
              <a:ext uri="{FF2B5EF4-FFF2-40B4-BE49-F238E27FC236}">
                <a16:creationId xmlns:a16="http://schemas.microsoft.com/office/drawing/2014/main" id="{DA5AEB5D-6308-2448-8412-21FED0750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670" y="1457476"/>
            <a:ext cx="3598074" cy="47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789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4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2000" dirty="0"/>
              <a:t>Where is metadata used?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2FF5C0-C005-904A-ADF2-5DF37AB3DE5E}"/>
              </a:ext>
            </a:extLst>
          </p:cNvPr>
          <p:cNvSpPr txBox="1"/>
          <p:nvPr/>
        </p:nvSpPr>
        <p:spPr>
          <a:xfrm>
            <a:off x="130029" y="2931386"/>
            <a:ext cx="61330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dirty="0"/>
              <a:t>Search engines (Google)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Social media platforms (Instagram, </a:t>
            </a:r>
            <a:r>
              <a:rPr lang="en" dirty="0" err="1"/>
              <a:t>TikTok</a:t>
            </a:r>
            <a:r>
              <a:rPr lang="en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Music services (Spotify)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File systems on computers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Online shopping platforms</a:t>
            </a:r>
          </a:p>
        </p:txBody>
      </p:sp>
      <p:pic>
        <p:nvPicPr>
          <p:cNvPr id="3076" name="Picture 4" descr="What is Metadata (with examples) - Data terminology">
            <a:extLst>
              <a:ext uri="{FF2B5EF4-FFF2-40B4-BE49-F238E27FC236}">
                <a16:creationId xmlns:a16="http://schemas.microsoft.com/office/drawing/2014/main" id="{BF2EFC01-9FDB-DE4F-9D02-5027412A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039" y="2556472"/>
            <a:ext cx="5192849" cy="277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66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5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2000" dirty="0"/>
              <a:t>Why is metadata important?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3EBDB4-B4B1-2D44-980E-3BD5AF6994C9}"/>
              </a:ext>
            </a:extLst>
          </p:cNvPr>
          <p:cNvSpPr txBox="1"/>
          <p:nvPr/>
        </p:nvSpPr>
        <p:spPr>
          <a:xfrm>
            <a:off x="130029" y="2505670"/>
            <a:ext cx="61330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helps find information faster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organizes huge amounts of data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improves recommendation systems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4037F1-CE1E-B24C-903C-98B989761B15}"/>
              </a:ext>
            </a:extLst>
          </p:cNvPr>
          <p:cNvSpPr txBox="1"/>
          <p:nvPr/>
        </p:nvSpPr>
        <p:spPr>
          <a:xfrm>
            <a:off x="130029" y="4039829"/>
            <a:ext cx="4520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👉 </a:t>
            </a:r>
            <a:r>
              <a:rPr lang="en" dirty="0"/>
              <a:t>Without metadata, the internet would be chaotic and unstructured</a:t>
            </a:r>
            <a:endParaRPr lang="ru-RU" dirty="0"/>
          </a:p>
        </p:txBody>
      </p:sp>
      <p:pic>
        <p:nvPicPr>
          <p:cNvPr id="4098" name="Picture 2" descr="время в соцсетях">
            <a:extLst>
              <a:ext uri="{FF2B5EF4-FFF2-40B4-BE49-F238E27FC236}">
                <a16:creationId xmlns:a16="http://schemas.microsoft.com/office/drawing/2014/main" id="{DA303177-B86C-3D47-A1CB-DDF0EC622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8801" y="2075818"/>
            <a:ext cx="6828104" cy="334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5479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6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2000" dirty="0"/>
              <a:t>Metadata and privacy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1F884F-8CFE-5849-B424-095BC65CEC30}"/>
              </a:ext>
            </a:extLst>
          </p:cNvPr>
          <p:cNvSpPr txBox="1"/>
          <p:nvPr/>
        </p:nvSpPr>
        <p:spPr>
          <a:xfrm>
            <a:off x="4347257" y="2265357"/>
            <a:ext cx="61330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Metadata can reveal: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dirty="0"/>
              <a:t>your location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dirty="0"/>
              <a:t>your activity patterns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" dirty="0"/>
              <a:t>the devices you use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043779-AD59-5748-B422-66A174F9CA97}"/>
              </a:ext>
            </a:extLst>
          </p:cNvPr>
          <p:cNvSpPr txBox="1"/>
          <p:nvPr/>
        </p:nvSpPr>
        <p:spPr>
          <a:xfrm>
            <a:off x="1060268" y="4459586"/>
            <a:ext cx="10071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⚠️ Even without reading message content, a lot can still be learned about a person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1618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7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2000" dirty="0"/>
              <a:t>Real-life example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AC28D7-A984-AC4B-A08C-BA0339339931}"/>
              </a:ext>
            </a:extLst>
          </p:cNvPr>
          <p:cNvSpPr txBox="1"/>
          <p:nvPr/>
        </p:nvSpPr>
        <p:spPr>
          <a:xfrm>
            <a:off x="130029" y="1941901"/>
            <a:ext cx="61330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a photo without metadata = just an </a:t>
            </a:r>
            <a:r>
              <a:rPr lang="en" dirty="0" err="1"/>
              <a:t>imagea</a:t>
            </a:r>
            <a:r>
              <a:rPr lang="en" dirty="0"/>
              <a:t> photo with metadata = a story (where, when, and how it was taken)</a:t>
            </a:r>
            <a:endParaRPr lang="ru-RU" dirty="0"/>
          </a:p>
        </p:txBody>
      </p:sp>
      <p:pic>
        <p:nvPicPr>
          <p:cNvPr id="6146" name="Picture 2" descr="Metadata Examples: 7 Clusters You Haven't Heard Of">
            <a:extLst>
              <a:ext uri="{FF2B5EF4-FFF2-40B4-BE49-F238E27FC236}">
                <a16:creationId xmlns:a16="http://schemas.microsoft.com/office/drawing/2014/main" id="{BE92E684-ED43-F94F-8E5C-7B306F320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405" y="2612269"/>
            <a:ext cx="5199545" cy="357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2225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8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2000" dirty="0"/>
              <a:t>Conclusion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C1738-9FF8-404B-96CD-6E7F498DC185}"/>
              </a:ext>
            </a:extLst>
          </p:cNvPr>
          <p:cNvSpPr txBox="1"/>
          <p:nvPr/>
        </p:nvSpPr>
        <p:spPr>
          <a:xfrm>
            <a:off x="914400" y="2690336"/>
            <a:ext cx="34888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/>
              <a:t>Metadata </a:t>
            </a:r>
            <a:r>
              <a:rPr lang="en" dirty="0"/>
              <a:t>is an invisible layer of the internet that:</a:t>
            </a:r>
          </a:p>
          <a:p>
            <a:endParaRPr lang="en" dirty="0"/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structures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powers digital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affects user privacy</a:t>
            </a:r>
          </a:p>
        </p:txBody>
      </p:sp>
      <p:pic>
        <p:nvPicPr>
          <p:cNvPr id="11" name="Picture 2" descr="The role of metadata in a data-driven strategy | Zeenea">
            <a:extLst>
              <a:ext uri="{FF2B5EF4-FFF2-40B4-BE49-F238E27FC236}">
                <a16:creationId xmlns:a16="http://schemas.microsoft.com/office/drawing/2014/main" id="{16AD7F7E-17E2-BE44-A41D-4414B7C35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085" y="2075818"/>
            <a:ext cx="5729424" cy="348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1339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55688" y="705942"/>
            <a:ext cx="12502191" cy="428760"/>
          </a:xfrm>
        </p:spPr>
        <p:txBody>
          <a:bodyPr>
            <a:noAutofit/>
          </a:bodyPr>
          <a:lstStyle/>
          <a:p>
            <a:r>
              <a:rPr lang="ru-RU" sz="2800" dirty="0" err="1"/>
              <a:t>T</a:t>
            </a:r>
            <a:r>
              <a:rPr lang="en-US" sz="2800" dirty="0"/>
              <a:t>hanks for you attention</a:t>
            </a:r>
            <a:endParaRPr lang="ru-RU" sz="2800" dirty="0"/>
          </a:p>
        </p:txBody>
      </p:sp>
      <p:pic>
        <p:nvPicPr>
          <p:cNvPr id="8196" name="Picture 4" descr="Милые картинки для срисовки (35 фото) 🔥 BipBap.ru">
            <a:extLst>
              <a:ext uri="{FF2B5EF4-FFF2-40B4-BE49-F238E27FC236}">
                <a16:creationId xmlns:a16="http://schemas.microsoft.com/office/drawing/2014/main" id="{AE0D6A4A-9EE5-8543-9477-8C616DF4F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500" y="2190206"/>
            <a:ext cx="444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олитех" id="{706195B2-3338-754E-B596-794E89AA9D73}" vid="{BB8C50E2-D7A2-124C-B4D7-CE11DEE1589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Тема2</Template>
  <TotalTime>72</TotalTime>
  <Words>247</Words>
  <Application>Microsoft Macintosh PowerPoint</Application>
  <PresentationFormat>Широкоэкранный</PresentationFormat>
  <Paragraphs>65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Gilroy Medium</vt:lpstr>
      <vt:lpstr>Gilroy Bold</vt:lpstr>
      <vt:lpstr>Verdana </vt:lpstr>
      <vt:lpstr>Calibri</vt:lpstr>
      <vt:lpstr>Arial</vt:lpstr>
      <vt:lpstr>Verdana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Thanks for you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Булытова</dc:creator>
  <cp:lastModifiedBy>Microsoft Office User</cp:lastModifiedBy>
  <cp:revision>2</cp:revision>
  <dcterms:created xsi:type="dcterms:W3CDTF">2026-04-09T09:51:26Z</dcterms:created>
  <dcterms:modified xsi:type="dcterms:W3CDTF">2026-04-24T12:11:41Z</dcterms:modified>
</cp:coreProperties>
</file>