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1"/>
  </p:notesMasterIdLst>
  <p:sldIdLst>
    <p:sldId id="256" r:id="rId2"/>
    <p:sldId id="289" r:id="rId3"/>
    <p:sldId id="290" r:id="rId4"/>
    <p:sldId id="292" r:id="rId5"/>
    <p:sldId id="293" r:id="rId6"/>
    <p:sldId id="294" r:id="rId7"/>
    <p:sldId id="295" r:id="rId8"/>
    <p:sldId id="296" r:id="rId9"/>
    <p:sldId id="258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Gilroy Bold" panose="020B0803050000020004" pitchFamily="34" charset="0"/>
      <p:bold r:id="rId16"/>
    </p:embeddedFont>
    <p:embeddedFont>
      <p:font typeface="Gilroy Medium" panose="020B0503050000020004" pitchFamily="34" charset="0"/>
      <p:regular r:id="rId17"/>
    </p:embeddedFont>
    <p:embeddedFont>
      <p:font typeface="Verdana" panose="020B0604030504040204" pitchFamily="34" charset="0"/>
      <p:regular r:id="rId17"/>
      <p:bold r:id="rId17"/>
      <p:italic r:id="rId17"/>
      <p:bold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70" autoAdjust="0"/>
    <p:restoredTop sz="95690"/>
  </p:normalViewPr>
  <p:slideViewPr>
    <p:cSldViewPr snapToGrid="0">
      <p:cViewPr varScale="1">
        <p:scale>
          <a:sx n="98" d="100"/>
          <a:sy n="98" d="100"/>
        </p:scale>
        <p:origin x="232" y="3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804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1863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562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765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146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07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663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25.04.2026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25.04.2026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25.04.2026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25.04.2026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25.04.2026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25.04.2026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25.04.2026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25.04.2026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292046" y="5773087"/>
            <a:ext cx="6480854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 err="1">
                <a:latin typeface="Gilroy Medium" panose="00000600000000000000" charset="-52"/>
              </a:rPr>
              <a:t>S</a:t>
            </a:r>
            <a:r>
              <a:rPr lang="en-US" sz="1800" dirty="0" err="1">
                <a:latin typeface="Gilroy Medium" panose="00000600000000000000" charset="-52"/>
              </a:rPr>
              <a:t>tudent</a:t>
            </a:r>
            <a:r>
              <a:rPr lang="en-US" sz="1800" dirty="0">
                <a:latin typeface="Gilroy Medium" panose="00000600000000000000" charset="-52"/>
              </a:rPr>
              <a:t>: </a:t>
            </a:r>
            <a:r>
              <a:rPr lang="en-US" sz="1800" dirty="0" err="1">
                <a:latin typeface="Gilroy Medium" panose="00000600000000000000" charset="-52"/>
              </a:rPr>
              <a:t>Andronov</a:t>
            </a:r>
            <a:r>
              <a:rPr lang="en-US" sz="1800" dirty="0">
                <a:latin typeface="Gilroy Medium" panose="00000600000000000000" charset="-52"/>
              </a:rPr>
              <a:t> Denis </a:t>
            </a:r>
            <a:r>
              <a:rPr lang="en-US" sz="1800" dirty="0" err="1">
                <a:latin typeface="Gilroy Medium" panose="00000600000000000000" charset="-52"/>
              </a:rPr>
              <a:t>Andreevich</a:t>
            </a:r>
            <a:r>
              <a:rPr lang="en-US" sz="1800" dirty="0">
                <a:latin typeface="Gilroy Medium" panose="00000600000000000000" charset="-52"/>
              </a:rPr>
              <a:t> 241-3210</a:t>
            </a:r>
            <a:endParaRPr lang="ru-RU" sz="1800" dirty="0"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CFC3E-423E-514A-B0DE-BBE85F5B19FC}"/>
              </a:ext>
            </a:extLst>
          </p:cNvPr>
          <p:cNvSpPr txBox="1"/>
          <p:nvPr/>
        </p:nvSpPr>
        <p:spPr>
          <a:xfrm>
            <a:off x="3464029" y="2883346"/>
            <a:ext cx="52639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3200" dirty="0"/>
              <a:t>HDD vs SSD: differences and comparison</a:t>
            </a:r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5A2C88-4154-A248-9510-05E1D58BB6F1}"/>
              </a:ext>
            </a:extLst>
          </p:cNvPr>
          <p:cNvSpPr txBox="1"/>
          <p:nvPr/>
        </p:nvSpPr>
        <p:spPr>
          <a:xfrm>
            <a:off x="7487956" y="678018"/>
            <a:ext cx="2182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Data storage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2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000" dirty="0"/>
              <a:t>What is Data Storage?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41A88-001A-0B4E-B7A0-E67B2CFED8ED}"/>
              </a:ext>
            </a:extLst>
          </p:cNvPr>
          <p:cNvSpPr txBox="1"/>
          <p:nvPr/>
        </p:nvSpPr>
        <p:spPr>
          <a:xfrm>
            <a:off x="130029" y="2411998"/>
            <a:ext cx="53694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Data storage is a technology used to record and keep digital information.</a:t>
            </a:r>
            <a:endParaRPr lang="ru-RU" b="1" dirty="0"/>
          </a:p>
          <a:p>
            <a:endParaRPr lang="en" dirty="0"/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Used in computers, servers, mobile devices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Stores files, applications, and system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Can be temporary or permanent </a:t>
            </a:r>
          </a:p>
          <a:p>
            <a:endParaRPr lang="en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A6E1A37-DF02-FA42-8892-5C53AF07A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059" y="2411998"/>
            <a:ext cx="56769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67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3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000" dirty="0"/>
              <a:t>What is HDD?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41A88-001A-0B4E-B7A0-E67B2CFED8ED}"/>
              </a:ext>
            </a:extLst>
          </p:cNvPr>
          <p:cNvSpPr txBox="1"/>
          <p:nvPr/>
        </p:nvSpPr>
        <p:spPr>
          <a:xfrm>
            <a:off x="130029" y="2803884"/>
            <a:ext cx="53694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HDD (Hard Disk Drive)</a:t>
            </a:r>
            <a:endParaRPr lang="ru-RU" b="1" dirty="0"/>
          </a:p>
          <a:p>
            <a:endParaRPr lang="en" dirty="0"/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Mechanical storage device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Uses spinning magnetic disks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Data is read/write using a moving head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Cheaper and larger capacity</a:t>
            </a:r>
          </a:p>
        </p:txBody>
      </p:sp>
      <p:pic>
        <p:nvPicPr>
          <p:cNvPr id="2050" name="Picture 2" descr="ДИСК ДЛЯ РЕГИСТРАТОРА HDD-WD43PURZ ... - Диски HDD - Delta">
            <a:extLst>
              <a:ext uri="{FF2B5EF4-FFF2-40B4-BE49-F238E27FC236}">
                <a16:creationId xmlns:a16="http://schemas.microsoft.com/office/drawing/2014/main" id="{360D9A4C-46ED-D14E-A4F8-AECFC6D85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78011"/>
            <a:ext cx="2717800" cy="298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ДИСК ДЛЯ РЕГИСТРАТОРА HDD-WD43PURZ ... - Диски HDD - Delta">
            <a:extLst>
              <a:ext uri="{FF2B5EF4-FFF2-40B4-BE49-F238E27FC236}">
                <a16:creationId xmlns:a16="http://schemas.microsoft.com/office/drawing/2014/main" id="{B169DCC7-7939-5B44-9DDD-0A46B5B7C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596" y="1841863"/>
            <a:ext cx="1359481" cy="149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ДИСК ДЛЯ РЕГИСТРАТОРА HDD-WD43PURZ ... - Диски HDD - Delta">
            <a:extLst>
              <a:ext uri="{FF2B5EF4-FFF2-40B4-BE49-F238E27FC236}">
                <a16:creationId xmlns:a16="http://schemas.microsoft.com/office/drawing/2014/main" id="{CCB31214-D3FE-2A41-8062-AC63C8719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8680" y="3985263"/>
            <a:ext cx="869200" cy="954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866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4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000" dirty="0"/>
              <a:t>What is SSD?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41A88-001A-0B4E-B7A0-E67B2CFED8ED}"/>
              </a:ext>
            </a:extLst>
          </p:cNvPr>
          <p:cNvSpPr txBox="1"/>
          <p:nvPr/>
        </p:nvSpPr>
        <p:spPr>
          <a:xfrm>
            <a:off x="130029" y="2411998"/>
            <a:ext cx="53694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SSD (Solid State Drive)</a:t>
            </a:r>
          </a:p>
          <a:p>
            <a:endParaRPr lang="en" dirty="0"/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Uses flash memory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No moving parts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Very fast data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More durable</a:t>
            </a:r>
          </a:p>
          <a:p>
            <a:endParaRPr lang="e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11D26-7DF8-7F40-AE98-BB8C32E750C2}"/>
              </a:ext>
            </a:extLst>
          </p:cNvPr>
          <p:cNvSpPr txBox="1"/>
          <p:nvPr/>
        </p:nvSpPr>
        <p:spPr>
          <a:xfrm>
            <a:off x="130029" y="4558298"/>
            <a:ext cx="53694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⚠️ Disadvantages: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More expensive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Limited write cycles (but still long lifespan)</a:t>
            </a:r>
          </a:p>
        </p:txBody>
      </p:sp>
      <p:pic>
        <p:nvPicPr>
          <p:cNvPr id="4098" name="Picture 2" descr="250 GB SanDisk SSD Plus | Sandisk">
            <a:extLst>
              <a:ext uri="{FF2B5EF4-FFF2-40B4-BE49-F238E27FC236}">
                <a16:creationId xmlns:a16="http://schemas.microsoft.com/office/drawing/2014/main" id="{4C91BC4D-9659-EE47-B649-C1F07667D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722" y="667967"/>
            <a:ext cx="4813661" cy="4813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250 GB SanDisk SSD Plus | Sandisk">
            <a:extLst>
              <a:ext uri="{FF2B5EF4-FFF2-40B4-BE49-F238E27FC236}">
                <a16:creationId xmlns:a16="http://schemas.microsoft.com/office/drawing/2014/main" id="{6CAA9F9F-DD62-4942-87EF-3A2CE5CC4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441" y="3461592"/>
            <a:ext cx="2778034" cy="2778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595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5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000" dirty="0"/>
              <a:t>HDD vs SSD Comparison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B9C47B35-7141-3445-B384-F22A7CB56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42839"/>
              </p:ext>
            </p:extLst>
          </p:nvPr>
        </p:nvGraphicFramePr>
        <p:xfrm>
          <a:off x="1355477" y="1592610"/>
          <a:ext cx="10282239" cy="2194560"/>
        </p:xfrm>
        <a:graphic>
          <a:graphicData uri="http://schemas.openxmlformats.org/drawingml/2006/table">
            <a:tbl>
              <a:tblPr/>
              <a:tblGrid>
                <a:gridCol w="3427413">
                  <a:extLst>
                    <a:ext uri="{9D8B030D-6E8A-4147-A177-3AD203B41FA5}">
                      <a16:colId xmlns:a16="http://schemas.microsoft.com/office/drawing/2014/main" val="421336724"/>
                    </a:ext>
                  </a:extLst>
                </a:gridCol>
                <a:gridCol w="3427413">
                  <a:extLst>
                    <a:ext uri="{9D8B030D-6E8A-4147-A177-3AD203B41FA5}">
                      <a16:colId xmlns:a16="http://schemas.microsoft.com/office/drawing/2014/main" val="1362539230"/>
                    </a:ext>
                  </a:extLst>
                </a:gridCol>
                <a:gridCol w="3427413">
                  <a:extLst>
                    <a:ext uri="{9D8B030D-6E8A-4147-A177-3AD203B41FA5}">
                      <a16:colId xmlns:a16="http://schemas.microsoft.com/office/drawing/2014/main" val="612269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" sz="1800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 b="1" dirty="0"/>
                        <a:t>HDD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 b="1" dirty="0"/>
                        <a:t>SSD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9026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" sz="1800" b="1" dirty="0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 dirty="0"/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Very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1242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" sz="1800" b="1"/>
                        <a:t>Durability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3623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" sz="1800" b="1"/>
                        <a:t>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Cheap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22634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" sz="1800" b="1"/>
                        <a:t>Noise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Noisy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Silent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5669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" sz="1800" b="1" dirty="0"/>
                        <a:t>Power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 dirty="0"/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800" dirty="0"/>
                        <a:t>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425438"/>
                  </a:ext>
                </a:extLst>
              </a:tr>
            </a:tbl>
          </a:graphicData>
        </a:graphic>
      </p:graphicFrame>
      <p:pic>
        <p:nvPicPr>
          <p:cNvPr id="5122" name="Picture 2" descr="SSD и HDD: понимание различий - OSCOO">
            <a:extLst>
              <a:ext uri="{FF2B5EF4-FFF2-40B4-BE49-F238E27FC236}">
                <a16:creationId xmlns:a16="http://schemas.microsoft.com/office/drawing/2014/main" id="{F1BF6135-FE47-F24C-A170-7799AA085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50" y="4159055"/>
            <a:ext cx="5900452" cy="2212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A0D15B-E4CF-9E4E-B75A-3C90E6125640}"/>
              </a:ext>
            </a:extLst>
          </p:cNvPr>
          <p:cNvSpPr txBox="1"/>
          <p:nvPr/>
        </p:nvSpPr>
        <p:spPr>
          <a:xfrm>
            <a:off x="7181306" y="4803725"/>
            <a:ext cx="30599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HDD: ~100–150 MB/s SSD: ~500 MB/s to 7000 MB/s (</a:t>
            </a:r>
            <a:r>
              <a:rPr lang="en" dirty="0" err="1"/>
              <a:t>NVMe</a:t>
            </a:r>
            <a:r>
              <a:rPr lang="en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298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6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000" dirty="0"/>
              <a:t>Where are they used?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18997-95A5-9E48-BEF8-0499A108C4C5}"/>
              </a:ext>
            </a:extLst>
          </p:cNvPr>
          <p:cNvSpPr txBox="1"/>
          <p:nvPr/>
        </p:nvSpPr>
        <p:spPr>
          <a:xfrm>
            <a:off x="457200" y="2228671"/>
            <a:ext cx="42095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HDD is used in:</a:t>
            </a:r>
            <a:endParaRPr lang="en" dirty="0"/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Data backups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Servers with large storage needs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Budget PCs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D2B2A2-64D0-644D-B72F-23C2EA3EE6C6}"/>
              </a:ext>
            </a:extLst>
          </p:cNvPr>
          <p:cNvSpPr txBox="1"/>
          <p:nvPr/>
        </p:nvSpPr>
        <p:spPr>
          <a:xfrm>
            <a:off x="7963877" y="2228671"/>
            <a:ext cx="27987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SSD is used in:</a:t>
            </a:r>
            <a:endParaRPr lang="en" dirty="0"/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Modern laptops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Gaming PCs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Operating systems </a:t>
            </a:r>
          </a:p>
        </p:txBody>
      </p:sp>
      <p:pic>
        <p:nvPicPr>
          <p:cNvPr id="6146" name="Picture 2" descr="Что делать со старым компьютером">
            <a:extLst>
              <a:ext uri="{FF2B5EF4-FFF2-40B4-BE49-F238E27FC236}">
                <a16:creationId xmlns:a16="http://schemas.microsoft.com/office/drawing/2014/main" id="{C0413752-1C7E-D141-AC04-D3E8953E8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243" y="4008579"/>
            <a:ext cx="3265417" cy="2178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Собрал себе мощный ПК, а играть уже не хочется">
            <a:extLst>
              <a:ext uri="{FF2B5EF4-FFF2-40B4-BE49-F238E27FC236}">
                <a16:creationId xmlns:a16="http://schemas.microsoft.com/office/drawing/2014/main" id="{AD01CCAF-658B-9E42-8F24-62722213B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112" y="3959053"/>
            <a:ext cx="3040482" cy="227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4604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7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000" dirty="0"/>
              <a:t>Where are they used?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18997-95A5-9E48-BEF8-0499A108C4C5}"/>
              </a:ext>
            </a:extLst>
          </p:cNvPr>
          <p:cNvSpPr txBox="1"/>
          <p:nvPr/>
        </p:nvSpPr>
        <p:spPr>
          <a:xfrm>
            <a:off x="634577" y="2228671"/>
            <a:ext cx="26160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HDD is used in:</a:t>
            </a:r>
            <a:endParaRPr lang="en" dirty="0"/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Data backups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Servers with large storage needs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Budget PCs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D2B2A2-64D0-644D-B72F-23C2EA3EE6C6}"/>
              </a:ext>
            </a:extLst>
          </p:cNvPr>
          <p:cNvSpPr txBox="1"/>
          <p:nvPr/>
        </p:nvSpPr>
        <p:spPr>
          <a:xfrm>
            <a:off x="4971902" y="2228670"/>
            <a:ext cx="25021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SSD is used in:</a:t>
            </a:r>
            <a:endParaRPr lang="en" dirty="0"/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Modern laptops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Gaming PCs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Operating systems </a:t>
            </a:r>
          </a:p>
        </p:txBody>
      </p:sp>
      <p:pic>
        <p:nvPicPr>
          <p:cNvPr id="6146" name="Picture 2" descr="Что делать со старым компьютером">
            <a:extLst>
              <a:ext uri="{FF2B5EF4-FFF2-40B4-BE49-F238E27FC236}">
                <a16:creationId xmlns:a16="http://schemas.microsoft.com/office/drawing/2014/main" id="{C0413752-1C7E-D141-AC04-D3E8953E8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50" y="4008578"/>
            <a:ext cx="3265417" cy="2178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Собрал себе мощный ПК, а играть уже не хочется">
            <a:extLst>
              <a:ext uri="{FF2B5EF4-FFF2-40B4-BE49-F238E27FC236}">
                <a16:creationId xmlns:a16="http://schemas.microsoft.com/office/drawing/2014/main" id="{AD01CCAF-658B-9E42-8F24-62722213B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849" y="4008579"/>
            <a:ext cx="2908245" cy="2178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0EC240-76FE-CC48-AD3C-9264B1415559}"/>
              </a:ext>
            </a:extLst>
          </p:cNvPr>
          <p:cNvSpPr txBox="1"/>
          <p:nvPr/>
        </p:nvSpPr>
        <p:spPr>
          <a:xfrm>
            <a:off x="8941358" y="2228669"/>
            <a:ext cx="27987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Some systems use both HDD + SSD SSD for OS and apps HDD for files and backups</a:t>
            </a:r>
            <a:endParaRPr lang="ru-RU" dirty="0"/>
          </a:p>
        </p:txBody>
      </p:sp>
      <p:pic>
        <p:nvPicPr>
          <p:cNvPr id="7170" name="Picture 2" descr="Как подключить SSD и HDD в системном блоке при сборке ПК">
            <a:extLst>
              <a:ext uri="{FF2B5EF4-FFF2-40B4-BE49-F238E27FC236}">
                <a16:creationId xmlns:a16="http://schemas.microsoft.com/office/drawing/2014/main" id="{B0951FED-205A-0945-93D0-ED8D62F96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2103" y="4008578"/>
            <a:ext cx="3324847" cy="191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427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8</a:t>
            </a:fld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2000" dirty="0"/>
              <a:t>Conclusion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1038E7-4FAE-DE4A-B38E-94FECC911D48}"/>
              </a:ext>
            </a:extLst>
          </p:cNvPr>
          <p:cNvSpPr txBox="1"/>
          <p:nvPr/>
        </p:nvSpPr>
        <p:spPr>
          <a:xfrm>
            <a:off x="3558146" y="2967335"/>
            <a:ext cx="50063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dirty="0"/>
              <a:t>HDD = cheap, large storage, slower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dirty="0"/>
              <a:t>SSD = fast, durable, more expensive 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endParaRPr lang="en" dirty="0"/>
          </a:p>
          <a:p>
            <a:r>
              <a:rPr lang="en" dirty="0"/>
              <a:t>SSD is the future of personal computing </a:t>
            </a:r>
          </a:p>
        </p:txBody>
      </p:sp>
    </p:spTree>
    <p:extLst>
      <p:ext uri="{BB962C8B-B14F-4D97-AF65-F5344CB8AC3E}">
        <p14:creationId xmlns:p14="http://schemas.microsoft.com/office/powerpoint/2010/main" val="1151153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55688" y="705942"/>
            <a:ext cx="12502191" cy="428760"/>
          </a:xfrm>
        </p:spPr>
        <p:txBody>
          <a:bodyPr>
            <a:noAutofit/>
          </a:bodyPr>
          <a:lstStyle/>
          <a:p>
            <a:r>
              <a:rPr lang="ru-RU" sz="2800" dirty="0" err="1"/>
              <a:t>T</a:t>
            </a:r>
            <a:r>
              <a:rPr lang="en-US" sz="2800" dirty="0"/>
              <a:t>hanks for you attention</a:t>
            </a:r>
            <a:endParaRPr lang="ru-RU" sz="2800" dirty="0"/>
          </a:p>
        </p:txBody>
      </p:sp>
      <p:pic>
        <p:nvPicPr>
          <p:cNvPr id="8196" name="Picture 4" descr="Милые картинки для срисовки (35 фото) 🔥 BipBap.ru">
            <a:extLst>
              <a:ext uri="{FF2B5EF4-FFF2-40B4-BE49-F238E27FC236}">
                <a16:creationId xmlns:a16="http://schemas.microsoft.com/office/drawing/2014/main" id="{AE0D6A4A-9EE5-8543-9477-8C616DF4F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00" y="2190206"/>
            <a:ext cx="444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олитех" id="{706195B2-3338-754E-B596-794E89AA9D73}" vid="{BB8C50E2-D7A2-124C-B4D7-CE11DEE1589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Тема2</Template>
  <TotalTime>352</TotalTime>
  <Words>290</Words>
  <Application>Microsoft Macintosh PowerPoint</Application>
  <PresentationFormat>Широкоэкранный</PresentationFormat>
  <Paragraphs>88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Gilroy Medium</vt:lpstr>
      <vt:lpstr>Gilroy Bold</vt:lpstr>
      <vt:lpstr>Verdana </vt:lpstr>
      <vt:lpstr>Calibri</vt:lpstr>
      <vt:lpstr>Arial</vt:lpstr>
      <vt:lpstr>Verdana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Thanks for you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Булытова</dc:creator>
  <cp:lastModifiedBy>Microsoft Office User</cp:lastModifiedBy>
  <cp:revision>3</cp:revision>
  <dcterms:created xsi:type="dcterms:W3CDTF">2026-04-09T09:51:26Z</dcterms:created>
  <dcterms:modified xsi:type="dcterms:W3CDTF">2026-04-25T14:28:05Z</dcterms:modified>
</cp:coreProperties>
</file>